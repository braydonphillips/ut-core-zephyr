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722" r:id="rId4"/>
  </p:sldMasterIdLst>
  <p:notesMasterIdLst>
    <p:notesMasterId r:id="rId30"/>
  </p:notesMasterIdLst>
  <p:sldIdLst>
    <p:sldId id="284" r:id="rId5"/>
    <p:sldId id="283" r:id="rId6"/>
    <p:sldId id="309" r:id="rId7"/>
    <p:sldId id="289" r:id="rId8"/>
    <p:sldId id="308" r:id="rId9"/>
    <p:sldId id="299" r:id="rId10"/>
    <p:sldId id="307" r:id="rId11"/>
    <p:sldId id="317" r:id="rId12"/>
    <p:sldId id="310" r:id="rId13"/>
    <p:sldId id="311" r:id="rId14"/>
    <p:sldId id="312" r:id="rId15"/>
    <p:sldId id="313" r:id="rId16"/>
    <p:sldId id="314" r:id="rId17"/>
    <p:sldId id="315" r:id="rId18"/>
    <p:sldId id="285" r:id="rId19"/>
    <p:sldId id="318" r:id="rId20"/>
    <p:sldId id="320" r:id="rId21"/>
    <p:sldId id="322" r:id="rId22"/>
    <p:sldId id="323" r:id="rId23"/>
    <p:sldId id="304" r:id="rId24"/>
    <p:sldId id="302" r:id="rId25"/>
    <p:sldId id="303" r:id="rId26"/>
    <p:sldId id="297" r:id="rId27"/>
    <p:sldId id="294" r:id="rId28"/>
    <p:sldId id="267"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BA1C21"/>
    <a:srgbClr val="003058"/>
    <a:srgbClr val="344529"/>
    <a:srgbClr val="2B3922"/>
    <a:srgbClr val="2E3722"/>
    <a:srgbClr val="FCF7F1"/>
    <a:srgbClr val="B8D233"/>
    <a:srgbClr val="5CC6D6"/>
    <a:srgbClr val="F8D22F"/>
    <a:srgbClr val="F03F2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D1939CC-1320-41C9-8653-6C432E563259}" v="8" dt="2025-02-28T20:47:01.343"/>
    <p1510:client id="{9AA889B8-7E6C-4140-97C8-AA68EFB9B602}" v="64" dt="2025-02-28T21:07:09.764"/>
    <p1510:client id="{DD7442C1-033E-4568-965C-8D6125F4024D}" v="2080" dt="2025-02-26T21:58:08.1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5/10/relationships/revisionInfo" Target="revisionInfo.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0CD6A13-8751-44E5-A777-2BA6DD2B178C}" type="datetimeFigureOut">
              <a:rPr lang="en-US" smtClean="0"/>
              <a:t>2/28/2025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22803-933A-464A-BF5A-19638B6C16CC}" type="slidenum">
              <a:rPr lang="en-US" smtClean="0"/>
              <a:t>‹#›</a:t>
            </a:fld>
            <a:endParaRPr lang="en-US"/>
          </a:p>
        </p:txBody>
      </p:sp>
    </p:spTree>
    <p:extLst>
      <p:ext uri="{BB962C8B-B14F-4D97-AF65-F5344CB8AC3E}">
        <p14:creationId xmlns:p14="http://schemas.microsoft.com/office/powerpoint/2010/main" val="33807317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Bef>
                <a:spcPts val="1000"/>
              </a:spcBef>
            </a:pPr>
            <a:r>
              <a:rPr lang="en-US"/>
              <a:t>Talking Points:</a:t>
            </a:r>
          </a:p>
          <a:p>
            <a:pPr marL="171450" indent="-171450">
              <a:spcBef>
                <a:spcPts val="1000"/>
              </a:spcBef>
              <a:buFont typeface="Arial"/>
              <a:buChar char="•"/>
            </a:pPr>
            <a:r>
              <a:rPr lang="en-US"/>
              <a:t>State who your sponsor is and give a short background</a:t>
            </a:r>
          </a:p>
          <a:p>
            <a:pPr marL="171450" indent="-171450">
              <a:spcBef>
                <a:spcPts val="1000"/>
              </a:spcBef>
              <a:buFont typeface="Arial"/>
              <a:buChar char="•"/>
            </a:pPr>
            <a:r>
              <a:rPr lang="en-US"/>
              <a:t>Read the design statement verbatim</a:t>
            </a:r>
          </a:p>
          <a:p>
            <a:pPr marL="171450" indent="-171450">
              <a:spcBef>
                <a:spcPts val="1000"/>
              </a:spcBef>
              <a:buFont typeface="Arial"/>
              <a:buChar char="•"/>
            </a:pPr>
            <a:r>
              <a:rPr lang="en-US"/>
              <a:t>Give the 1000-foot view of the project.</a:t>
            </a:r>
          </a:p>
        </p:txBody>
      </p:sp>
      <p:sp>
        <p:nvSpPr>
          <p:cNvPr id="4" name="Slide Number Placeholder 3"/>
          <p:cNvSpPr>
            <a:spLocks noGrp="1"/>
          </p:cNvSpPr>
          <p:nvPr>
            <p:ph type="sldNum" sz="quarter" idx="5"/>
          </p:nvPr>
        </p:nvSpPr>
        <p:spPr/>
        <p:txBody>
          <a:bodyPr/>
          <a:lstStyle/>
          <a:p>
            <a:fld id="{72E22803-933A-464A-BF5A-19638B6C16CC}" type="slidenum">
              <a:rPr lang="en-US" smtClean="0"/>
              <a:t>3</a:t>
            </a:fld>
            <a:endParaRPr lang="en-US"/>
          </a:p>
        </p:txBody>
      </p:sp>
    </p:spTree>
    <p:extLst>
      <p:ext uri="{BB962C8B-B14F-4D97-AF65-F5344CB8AC3E}">
        <p14:creationId xmlns:p14="http://schemas.microsoft.com/office/powerpoint/2010/main" val="812446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2E22803-933A-464A-BF5A-19638B6C16CC}" type="slidenum">
              <a:rPr lang="en-US" smtClean="0"/>
              <a:t>4</a:t>
            </a:fld>
            <a:endParaRPr lang="en-US"/>
          </a:p>
        </p:txBody>
      </p:sp>
    </p:spTree>
    <p:extLst>
      <p:ext uri="{BB962C8B-B14F-4D97-AF65-F5344CB8AC3E}">
        <p14:creationId xmlns:p14="http://schemas.microsoft.com/office/powerpoint/2010/main" val="30018812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06AA2-BCB9-5B1C-6AB6-1F6C5F42FE5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181CEC-189D-9425-FE50-E40936CEF3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83C9BC-95CB-DD7A-6634-568CDA98048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D9E63F-00A4-5074-0937-B2E5BEF7931F}"/>
              </a:ext>
            </a:extLst>
          </p:cNvPr>
          <p:cNvSpPr>
            <a:spLocks noGrp="1"/>
          </p:cNvSpPr>
          <p:nvPr>
            <p:ph type="sldNum" sz="quarter" idx="5"/>
          </p:nvPr>
        </p:nvSpPr>
        <p:spPr/>
        <p:txBody>
          <a:bodyPr/>
          <a:lstStyle/>
          <a:p>
            <a:fld id="{72E22803-933A-464A-BF5A-19638B6C16CC}" type="slidenum">
              <a:rPr lang="en-US" smtClean="0"/>
              <a:t>5</a:t>
            </a:fld>
            <a:endParaRPr lang="en-US"/>
          </a:p>
        </p:txBody>
      </p:sp>
    </p:spTree>
    <p:extLst>
      <p:ext uri="{BB962C8B-B14F-4D97-AF65-F5344CB8AC3E}">
        <p14:creationId xmlns:p14="http://schemas.microsoft.com/office/powerpoint/2010/main" val="211349320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771D4-5047-8AEE-3510-2943A97167E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226357-C90B-A961-B3EF-50B1FE28A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AF2A0D-6542-29DF-1728-A90934174749}"/>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F0AEB58-15EB-B315-2B60-5D6706E8C310}"/>
              </a:ext>
            </a:extLst>
          </p:cNvPr>
          <p:cNvSpPr>
            <a:spLocks noGrp="1"/>
          </p:cNvSpPr>
          <p:nvPr>
            <p:ph type="sldNum" sz="quarter" idx="5"/>
          </p:nvPr>
        </p:nvSpPr>
        <p:spPr/>
        <p:txBody>
          <a:bodyPr/>
          <a:lstStyle/>
          <a:p>
            <a:fld id="{72E22803-933A-464A-BF5A-19638B6C16CC}" type="slidenum">
              <a:rPr lang="en-US" smtClean="0"/>
              <a:t>6</a:t>
            </a:fld>
            <a:endParaRPr lang="en-US"/>
          </a:p>
        </p:txBody>
      </p:sp>
    </p:spTree>
    <p:extLst>
      <p:ext uri="{BB962C8B-B14F-4D97-AF65-F5344CB8AC3E}">
        <p14:creationId xmlns:p14="http://schemas.microsoft.com/office/powerpoint/2010/main" val="40822451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774A81-5B61-F5EA-08A9-74C60E3900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CDB686-677F-BDBC-0955-3179B30988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7460E3-E496-91E9-10B4-ED597E3E52B9}"/>
              </a:ext>
            </a:extLst>
          </p:cNvPr>
          <p:cNvSpPr>
            <a:spLocks noGrp="1"/>
          </p:cNvSpPr>
          <p:nvPr>
            <p:ph type="body" idx="1"/>
          </p:nvPr>
        </p:nvSpPr>
        <p:spPr/>
        <p:txBody>
          <a:bodyPr/>
          <a:lstStyle/>
          <a:p>
            <a:r>
              <a:rPr lang="en-US"/>
              <a:t>Notes:</a:t>
            </a:r>
          </a:p>
          <a:p>
            <a:pPr marL="171450" indent="-171450">
              <a:buFont typeface="Arial" panose="020B0604020202020204" pitchFamily="34" charset="0"/>
              <a:buChar char="•"/>
            </a:pPr>
            <a:r>
              <a:rPr lang="en-US"/>
              <a:t>List your talking points with details. You will not read from these notes and these notes may contain information that you forget to mention in your presentation.</a:t>
            </a:r>
          </a:p>
          <a:p>
            <a:pPr marL="171450" indent="-171450">
              <a:buFont typeface="Arial" panose="020B0604020202020204" pitchFamily="34" charset="0"/>
              <a:buChar char="•"/>
            </a:pPr>
            <a:r>
              <a:rPr lang="en-US"/>
              <a:t>Everything needs to be in bullet point form and put in presenting order.</a:t>
            </a:r>
          </a:p>
          <a:p>
            <a:endParaRPr lang="en-US"/>
          </a:p>
        </p:txBody>
      </p:sp>
      <p:sp>
        <p:nvSpPr>
          <p:cNvPr id="4" name="Slide Number Placeholder 3">
            <a:extLst>
              <a:ext uri="{FF2B5EF4-FFF2-40B4-BE49-F238E27FC236}">
                <a16:creationId xmlns:a16="http://schemas.microsoft.com/office/drawing/2014/main" id="{30428608-5B34-09A2-B656-C7E2F310481C}"/>
              </a:ext>
            </a:extLst>
          </p:cNvPr>
          <p:cNvSpPr>
            <a:spLocks noGrp="1"/>
          </p:cNvSpPr>
          <p:nvPr>
            <p:ph type="sldNum" sz="quarter" idx="5"/>
          </p:nvPr>
        </p:nvSpPr>
        <p:spPr/>
        <p:txBody>
          <a:bodyPr/>
          <a:lstStyle/>
          <a:p>
            <a:fld id="{72E22803-933A-464A-BF5A-19638B6C16CC}" type="slidenum">
              <a:rPr lang="en-US" smtClean="0"/>
              <a:t>7</a:t>
            </a:fld>
            <a:endParaRPr lang="en-US"/>
          </a:p>
        </p:txBody>
      </p:sp>
    </p:spTree>
    <p:extLst>
      <p:ext uri="{BB962C8B-B14F-4D97-AF65-F5344CB8AC3E}">
        <p14:creationId xmlns:p14="http://schemas.microsoft.com/office/powerpoint/2010/main" val="63742496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6E818F-00B1-FA2F-56DE-5110EB988E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DCB6E0-FC7B-5B3C-4B07-A3731F32716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71504-4E11-0839-4082-F68E771CB331}"/>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23776D3D-216A-C593-CA67-8F742FE46962}"/>
              </a:ext>
            </a:extLst>
          </p:cNvPr>
          <p:cNvSpPr>
            <a:spLocks noGrp="1"/>
          </p:cNvSpPr>
          <p:nvPr>
            <p:ph type="sldNum" sz="quarter" idx="5"/>
          </p:nvPr>
        </p:nvSpPr>
        <p:spPr/>
        <p:txBody>
          <a:bodyPr/>
          <a:lstStyle/>
          <a:p>
            <a:fld id="{72E22803-933A-464A-BF5A-19638B6C16CC}" type="slidenum">
              <a:rPr lang="en-US" smtClean="0"/>
              <a:t>8</a:t>
            </a:fld>
            <a:endParaRPr lang="en-US"/>
          </a:p>
        </p:txBody>
      </p:sp>
    </p:spTree>
    <p:extLst>
      <p:ext uri="{BB962C8B-B14F-4D97-AF65-F5344CB8AC3E}">
        <p14:creationId xmlns:p14="http://schemas.microsoft.com/office/powerpoint/2010/main" val="5148797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14DEAB-0724-2013-5B8C-F191FE6D6B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A880D2-D7A3-B18B-CDAB-F1DEBA6768E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9259A-669F-277D-8AB9-1A2517391F0B}"/>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120CC168-F9C4-620A-B638-5897DA96CAFB}"/>
              </a:ext>
            </a:extLst>
          </p:cNvPr>
          <p:cNvSpPr>
            <a:spLocks noGrp="1"/>
          </p:cNvSpPr>
          <p:nvPr>
            <p:ph type="sldNum" sz="quarter" idx="5"/>
          </p:nvPr>
        </p:nvSpPr>
        <p:spPr/>
        <p:txBody>
          <a:bodyPr/>
          <a:lstStyle/>
          <a:p>
            <a:fld id="{72E22803-933A-464A-BF5A-19638B6C16CC}" type="slidenum">
              <a:rPr lang="en-US" smtClean="0"/>
              <a:t>9</a:t>
            </a:fld>
            <a:endParaRPr lang="en-US"/>
          </a:p>
        </p:txBody>
      </p:sp>
    </p:spTree>
    <p:extLst>
      <p:ext uri="{BB962C8B-B14F-4D97-AF65-F5344CB8AC3E}">
        <p14:creationId xmlns:p14="http://schemas.microsoft.com/office/powerpoint/2010/main" val="5048937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A6C4F2-C1A8-3019-C65D-1317CF7930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5E2AAF9-E633-FA34-97FF-6A4F304A57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C41C7-59CA-D545-73DD-59F82C4FF7BD}"/>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0DE97B00-6A07-ECD2-B9D7-CBE9047A307D}"/>
              </a:ext>
            </a:extLst>
          </p:cNvPr>
          <p:cNvSpPr>
            <a:spLocks noGrp="1"/>
          </p:cNvSpPr>
          <p:nvPr>
            <p:ph type="sldNum" sz="quarter" idx="5"/>
          </p:nvPr>
        </p:nvSpPr>
        <p:spPr/>
        <p:txBody>
          <a:bodyPr/>
          <a:lstStyle/>
          <a:p>
            <a:fld id="{72E22803-933A-464A-BF5A-19638B6C16CC}" type="slidenum">
              <a:rPr lang="en-US" smtClean="0"/>
              <a:t>10</a:t>
            </a:fld>
            <a:endParaRPr lang="en-US"/>
          </a:p>
        </p:txBody>
      </p:sp>
    </p:spTree>
    <p:extLst>
      <p:ext uri="{BB962C8B-B14F-4D97-AF65-F5344CB8AC3E}">
        <p14:creationId xmlns:p14="http://schemas.microsoft.com/office/powerpoint/2010/main" val="6008049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CE9436-7421-B36F-CFB2-217F26BB1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2510CC2-717A-7312-DA29-8000F85D5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0523E8-0BB5-5C3C-D102-5D960086EB5F}"/>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19289027-2C14-8D1B-835C-E0E781D58EBE}"/>
              </a:ext>
            </a:extLst>
          </p:cNvPr>
          <p:cNvSpPr>
            <a:spLocks noGrp="1"/>
          </p:cNvSpPr>
          <p:nvPr>
            <p:ph type="sldNum" sz="quarter" idx="5"/>
          </p:nvPr>
        </p:nvSpPr>
        <p:spPr/>
        <p:txBody>
          <a:bodyPr/>
          <a:lstStyle/>
          <a:p>
            <a:fld id="{72E22803-933A-464A-BF5A-19638B6C16CC}" type="slidenum">
              <a:rPr lang="en-US" smtClean="0"/>
              <a:t>11</a:t>
            </a:fld>
            <a:endParaRPr lang="en-US"/>
          </a:p>
        </p:txBody>
      </p:sp>
    </p:spTree>
    <p:extLst>
      <p:ext uri="{BB962C8B-B14F-4D97-AF65-F5344CB8AC3E}">
        <p14:creationId xmlns:p14="http://schemas.microsoft.com/office/powerpoint/2010/main" val="25800910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C1ABB7-2878-FABA-B6AD-64E2DA6A9D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FB9688-09BD-BFEC-C2EC-D8B8B2E741F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82998F-1C07-C81E-7E98-D38341D16F9B}"/>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3BB59A12-BFAE-FC19-D565-CD336D7BE586}"/>
              </a:ext>
            </a:extLst>
          </p:cNvPr>
          <p:cNvSpPr>
            <a:spLocks noGrp="1"/>
          </p:cNvSpPr>
          <p:nvPr>
            <p:ph type="sldNum" sz="quarter" idx="5"/>
          </p:nvPr>
        </p:nvSpPr>
        <p:spPr/>
        <p:txBody>
          <a:bodyPr/>
          <a:lstStyle/>
          <a:p>
            <a:fld id="{72E22803-933A-464A-BF5A-19638B6C16CC}" type="slidenum">
              <a:rPr lang="en-US" smtClean="0"/>
              <a:t>12</a:t>
            </a:fld>
            <a:endParaRPr lang="en-US"/>
          </a:p>
        </p:txBody>
      </p:sp>
    </p:spTree>
    <p:extLst>
      <p:ext uri="{BB962C8B-B14F-4D97-AF65-F5344CB8AC3E}">
        <p14:creationId xmlns:p14="http://schemas.microsoft.com/office/powerpoint/2010/main" val="1361791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20612-C05A-8B2C-5791-5855C1DC717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8EE4D7-CE47-23C4-8BFF-14DB8B6076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8F0031-DD4B-8EFB-A97A-EA5E6FF12E32}"/>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3AE51C93-3002-9F62-6B94-83FEE5723CE9}"/>
              </a:ext>
            </a:extLst>
          </p:cNvPr>
          <p:cNvSpPr>
            <a:spLocks noGrp="1"/>
          </p:cNvSpPr>
          <p:nvPr>
            <p:ph type="sldNum" sz="quarter" idx="5"/>
          </p:nvPr>
        </p:nvSpPr>
        <p:spPr/>
        <p:txBody>
          <a:bodyPr/>
          <a:lstStyle/>
          <a:p>
            <a:fld id="{72E22803-933A-464A-BF5A-19638B6C16CC}" type="slidenum">
              <a:rPr lang="en-US" smtClean="0"/>
              <a:t>13</a:t>
            </a:fld>
            <a:endParaRPr lang="en-US"/>
          </a:p>
        </p:txBody>
      </p:sp>
    </p:spTree>
    <p:extLst>
      <p:ext uri="{BB962C8B-B14F-4D97-AF65-F5344CB8AC3E}">
        <p14:creationId xmlns:p14="http://schemas.microsoft.com/office/powerpoint/2010/main" val="143053313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5C4536-6844-2B22-4683-922B2C7EA5D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458CE6-EC1F-C03D-D5F4-F9A536247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9C1A39-BB9B-3425-EB0C-B5F094AA37F4}"/>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4F3D646C-6AEC-EC4C-5569-99EAB88119CB}"/>
              </a:ext>
            </a:extLst>
          </p:cNvPr>
          <p:cNvSpPr>
            <a:spLocks noGrp="1"/>
          </p:cNvSpPr>
          <p:nvPr>
            <p:ph type="sldNum" sz="quarter" idx="5"/>
          </p:nvPr>
        </p:nvSpPr>
        <p:spPr/>
        <p:txBody>
          <a:bodyPr/>
          <a:lstStyle/>
          <a:p>
            <a:fld id="{72E22803-933A-464A-BF5A-19638B6C16CC}" type="slidenum">
              <a:rPr lang="en-US" smtClean="0"/>
              <a:t>14</a:t>
            </a:fld>
            <a:endParaRPr lang="en-US"/>
          </a:p>
        </p:txBody>
      </p:sp>
    </p:spTree>
    <p:extLst>
      <p:ext uri="{BB962C8B-B14F-4D97-AF65-F5344CB8AC3E}">
        <p14:creationId xmlns:p14="http://schemas.microsoft.com/office/powerpoint/2010/main" val="35504313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p:cNvSpPr>
            <a:spLocks noGrp="1"/>
          </p:cNvSpPr>
          <p:nvPr>
            <p:ph type="sldNum" sz="quarter" idx="5"/>
          </p:nvPr>
        </p:nvSpPr>
        <p:spPr/>
        <p:txBody>
          <a:bodyPr/>
          <a:lstStyle/>
          <a:p>
            <a:fld id="{72E22803-933A-464A-BF5A-19638B6C16CC}" type="slidenum">
              <a:rPr lang="en-US" smtClean="0"/>
              <a:t>15</a:t>
            </a:fld>
            <a:endParaRPr lang="en-US"/>
          </a:p>
        </p:txBody>
      </p:sp>
    </p:spTree>
    <p:extLst>
      <p:ext uri="{BB962C8B-B14F-4D97-AF65-F5344CB8AC3E}">
        <p14:creationId xmlns:p14="http://schemas.microsoft.com/office/powerpoint/2010/main" val="11713313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A2EE36-AC30-F1AE-4CF9-E94AE62D79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A9F9A24-EA75-1DE2-E8F9-C45D586ED5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35EFF-0237-4E13-C528-8A3DDF26BF94}"/>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0452865E-DEE7-C6CB-5DC9-EE6B55FB3F4A}"/>
              </a:ext>
            </a:extLst>
          </p:cNvPr>
          <p:cNvSpPr>
            <a:spLocks noGrp="1"/>
          </p:cNvSpPr>
          <p:nvPr>
            <p:ph type="sldNum" sz="quarter" idx="5"/>
          </p:nvPr>
        </p:nvSpPr>
        <p:spPr/>
        <p:txBody>
          <a:bodyPr/>
          <a:lstStyle/>
          <a:p>
            <a:fld id="{72E22803-933A-464A-BF5A-19638B6C16CC}" type="slidenum">
              <a:rPr lang="en-US" smtClean="0"/>
              <a:t>16</a:t>
            </a:fld>
            <a:endParaRPr lang="en-US"/>
          </a:p>
        </p:txBody>
      </p:sp>
    </p:spTree>
    <p:extLst>
      <p:ext uri="{BB962C8B-B14F-4D97-AF65-F5344CB8AC3E}">
        <p14:creationId xmlns:p14="http://schemas.microsoft.com/office/powerpoint/2010/main" val="13448291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99C78F-A400-AA2A-C88D-99FE1E8132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6A8D463-274A-CC95-0398-6480A7E99B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573E42-F9A2-1B23-4B90-2C5D284943F7}"/>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9734068F-9448-1F9A-782C-0DB11D5B3230}"/>
              </a:ext>
            </a:extLst>
          </p:cNvPr>
          <p:cNvSpPr>
            <a:spLocks noGrp="1"/>
          </p:cNvSpPr>
          <p:nvPr>
            <p:ph type="sldNum" sz="quarter" idx="5"/>
          </p:nvPr>
        </p:nvSpPr>
        <p:spPr/>
        <p:txBody>
          <a:bodyPr/>
          <a:lstStyle/>
          <a:p>
            <a:fld id="{72E22803-933A-464A-BF5A-19638B6C16CC}" type="slidenum">
              <a:rPr lang="en-US" smtClean="0"/>
              <a:t>17</a:t>
            </a:fld>
            <a:endParaRPr lang="en-US"/>
          </a:p>
        </p:txBody>
      </p:sp>
    </p:spTree>
    <p:extLst>
      <p:ext uri="{BB962C8B-B14F-4D97-AF65-F5344CB8AC3E}">
        <p14:creationId xmlns:p14="http://schemas.microsoft.com/office/powerpoint/2010/main" val="358081665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C1344-EE70-B305-CD6A-D28217F9925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4BC0D6-4C2F-F7FF-EF8E-0A914E5C62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BE7A27-B05A-3755-DE4C-9DED5D3AB8BA}"/>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0A2983F2-7DF1-1709-DFA7-6EF30B23BB72}"/>
              </a:ext>
            </a:extLst>
          </p:cNvPr>
          <p:cNvSpPr>
            <a:spLocks noGrp="1"/>
          </p:cNvSpPr>
          <p:nvPr>
            <p:ph type="sldNum" sz="quarter" idx="5"/>
          </p:nvPr>
        </p:nvSpPr>
        <p:spPr/>
        <p:txBody>
          <a:bodyPr/>
          <a:lstStyle/>
          <a:p>
            <a:fld id="{72E22803-933A-464A-BF5A-19638B6C16CC}" type="slidenum">
              <a:rPr lang="en-US" smtClean="0"/>
              <a:t>18</a:t>
            </a:fld>
            <a:endParaRPr lang="en-US"/>
          </a:p>
        </p:txBody>
      </p:sp>
    </p:spTree>
    <p:extLst>
      <p:ext uri="{BB962C8B-B14F-4D97-AF65-F5344CB8AC3E}">
        <p14:creationId xmlns:p14="http://schemas.microsoft.com/office/powerpoint/2010/main" val="273797461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931565-9380-D37F-DAB7-237DF7059C2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8646B-99C5-C2BB-5CBE-1397846F32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8682C3-EFAA-5C8D-5522-83FEB2D0B0FA}"/>
              </a:ext>
            </a:extLst>
          </p:cNvPr>
          <p:cNvSpPr>
            <a:spLocks noGrp="1"/>
          </p:cNvSpPr>
          <p:nvPr>
            <p:ph type="body" idx="1"/>
          </p:nvPr>
        </p:nvSpPr>
        <p:spPr/>
        <p:txBody>
          <a:bodyPr/>
          <a:lstStyle/>
          <a:p>
            <a:r>
              <a:rPr lang="en-US"/>
              <a:t>You may add additional information in the notes section</a:t>
            </a:r>
          </a:p>
          <a:p>
            <a:endParaRPr lang="en-US"/>
          </a:p>
          <a:p>
            <a:r>
              <a:rPr lang="en-US"/>
              <a:t>Repeatability:</a:t>
            </a:r>
          </a:p>
          <a:p>
            <a:pPr marL="171450" indent="-171450">
              <a:buFont typeface="Arial" panose="020B0604020202020204" pitchFamily="34" charset="0"/>
              <a:buChar char="•"/>
            </a:pPr>
            <a:r>
              <a:rPr lang="en-US"/>
              <a:t>A detailed test procedure is the best way to ensure test repeatability</a:t>
            </a:r>
          </a:p>
          <a:p>
            <a:pPr marL="171450" indent="-171450">
              <a:buFont typeface="Arial" panose="020B0604020202020204" pitchFamily="34" charset="0"/>
              <a:buChar char="•"/>
            </a:pPr>
            <a:r>
              <a:rPr lang="en-US"/>
              <a:t>Think through small things or seemingly unrelated factors that may influence the results of your test such as</a:t>
            </a:r>
          </a:p>
          <a:p>
            <a:pPr marL="628650" lvl="1" indent="-171450">
              <a:buFont typeface="Arial" panose="020B0604020202020204" pitchFamily="34" charset="0"/>
              <a:buChar char="•"/>
            </a:pPr>
            <a:r>
              <a:rPr lang="en-US"/>
              <a:t>Environmental conditions</a:t>
            </a:r>
          </a:p>
          <a:p>
            <a:pPr marL="628650" lvl="1" indent="-171450">
              <a:buFont typeface="Arial" panose="020B0604020202020204" pitchFamily="34" charset="0"/>
              <a:buChar char="•"/>
            </a:pPr>
            <a:r>
              <a:rPr lang="en-US"/>
              <a:t>Rate of change of any testing variable</a:t>
            </a:r>
          </a:p>
          <a:p>
            <a:pPr marL="628650" lvl="1" indent="-171450">
              <a:buFont typeface="Arial" panose="020B0604020202020204" pitchFamily="34" charset="0"/>
              <a:buChar char="•"/>
            </a:pPr>
            <a:r>
              <a:rPr lang="en-US"/>
              <a:t>Positioning</a:t>
            </a:r>
          </a:p>
          <a:p>
            <a:pPr marL="628650" lvl="1" indent="-171450">
              <a:buFont typeface="Arial" panose="020B0604020202020204" pitchFamily="34" charset="0"/>
              <a:buChar char="•"/>
            </a:pPr>
            <a:r>
              <a:rPr lang="en-US"/>
              <a:t>Resolution of equipment</a:t>
            </a:r>
          </a:p>
          <a:p>
            <a:pPr marL="0" lvl="0" indent="0">
              <a:buFont typeface="Arial" panose="020B0604020202020204" pitchFamily="34" charset="0"/>
              <a:buNone/>
            </a:pPr>
            <a:endParaRPr lang="en-US"/>
          </a:p>
          <a:p>
            <a:pPr marL="0" lvl="0" indent="0">
              <a:buFont typeface="Arial" panose="020B0604020202020204" pitchFamily="34" charset="0"/>
              <a:buNone/>
            </a:pPr>
            <a:r>
              <a:rPr lang="en-US"/>
              <a:t>Statistical Significance</a:t>
            </a:r>
          </a:p>
          <a:p>
            <a:pPr marL="171450" lvl="0" indent="-171450">
              <a:buFont typeface="Arial" panose="020B0604020202020204" pitchFamily="34" charset="0"/>
              <a:buChar char="•"/>
            </a:pPr>
            <a:r>
              <a:rPr lang="en-US"/>
              <a:t>You may talk about factors such as reliability, confidence, etc.</a:t>
            </a:r>
          </a:p>
          <a:p>
            <a:pPr marL="171450" lvl="0" indent="-171450">
              <a:buFont typeface="Arial" panose="020B0604020202020204" pitchFamily="34" charset="0"/>
              <a:buChar char="•"/>
            </a:pPr>
            <a:r>
              <a:rPr lang="en-US"/>
              <a:t>Why are you choosing the number of tests you proposed?</a:t>
            </a:r>
          </a:p>
          <a:p>
            <a:pPr marL="171450" lvl="0" indent="-171450">
              <a:buFont typeface="Arial" panose="020B0604020202020204" pitchFamily="34" charset="0"/>
              <a:buChar char="•"/>
            </a:pPr>
            <a:r>
              <a:rPr lang="en-US"/>
              <a:t>If limited on number of samples, how statistically significant will your results be?</a:t>
            </a:r>
          </a:p>
        </p:txBody>
      </p:sp>
      <p:sp>
        <p:nvSpPr>
          <p:cNvPr id="4" name="Slide Number Placeholder 3">
            <a:extLst>
              <a:ext uri="{FF2B5EF4-FFF2-40B4-BE49-F238E27FC236}">
                <a16:creationId xmlns:a16="http://schemas.microsoft.com/office/drawing/2014/main" id="{44226698-A352-ACB8-A1BF-1055E59C370F}"/>
              </a:ext>
            </a:extLst>
          </p:cNvPr>
          <p:cNvSpPr>
            <a:spLocks noGrp="1"/>
          </p:cNvSpPr>
          <p:nvPr>
            <p:ph type="sldNum" sz="quarter" idx="5"/>
          </p:nvPr>
        </p:nvSpPr>
        <p:spPr/>
        <p:txBody>
          <a:bodyPr/>
          <a:lstStyle/>
          <a:p>
            <a:fld id="{72E22803-933A-464A-BF5A-19638B6C16CC}" type="slidenum">
              <a:rPr lang="en-US" smtClean="0"/>
              <a:t>19</a:t>
            </a:fld>
            <a:endParaRPr lang="en-US"/>
          </a:p>
        </p:txBody>
      </p:sp>
    </p:spTree>
    <p:extLst>
      <p:ext uri="{BB962C8B-B14F-4D97-AF65-F5344CB8AC3E}">
        <p14:creationId xmlns:p14="http://schemas.microsoft.com/office/powerpoint/2010/main" val="351254017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C4EC45-E364-E639-C5B8-D3995A68DB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47930DC-ED4A-51EF-9473-4C56C427FF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CE0DD1F-1558-FE6B-5004-6355FC5596B9}"/>
              </a:ext>
            </a:extLst>
          </p:cNvPr>
          <p:cNvSpPr>
            <a:spLocks noGrp="1"/>
          </p:cNvSpPr>
          <p:nvPr>
            <p:ph type="body" idx="1"/>
          </p:nvPr>
        </p:nvSpPr>
        <p:spPr/>
        <p:txBody>
          <a:bodyPr/>
          <a:lstStyle/>
          <a:p>
            <a:r>
              <a:rPr lang="en-US"/>
              <a:t>Notes:</a:t>
            </a:r>
          </a:p>
          <a:p>
            <a:pPr marL="171450" indent="-171450">
              <a:buFont typeface="Arial" panose="020B0604020202020204" pitchFamily="34" charset="0"/>
              <a:buChar char="•"/>
            </a:pPr>
            <a:r>
              <a:rPr lang="en-US"/>
              <a:t>List your talking points with details. You will not read from these notes and these notes may contain information that you forget to mention in your presentation.</a:t>
            </a:r>
          </a:p>
          <a:p>
            <a:pPr marL="171450" indent="-171450">
              <a:buFont typeface="Arial" panose="020B0604020202020204" pitchFamily="34" charset="0"/>
              <a:buChar char="•"/>
            </a:pPr>
            <a:r>
              <a:rPr lang="en-US"/>
              <a:t>Everything needs to be in bullet point form and put in presenting order.</a:t>
            </a:r>
          </a:p>
          <a:p>
            <a:endParaRPr lang="en-US"/>
          </a:p>
        </p:txBody>
      </p:sp>
      <p:sp>
        <p:nvSpPr>
          <p:cNvPr id="4" name="Slide Number Placeholder 3">
            <a:extLst>
              <a:ext uri="{FF2B5EF4-FFF2-40B4-BE49-F238E27FC236}">
                <a16:creationId xmlns:a16="http://schemas.microsoft.com/office/drawing/2014/main" id="{FB36D76A-0F6F-E932-5216-F3DB7AFF39CE}"/>
              </a:ext>
            </a:extLst>
          </p:cNvPr>
          <p:cNvSpPr>
            <a:spLocks noGrp="1"/>
          </p:cNvSpPr>
          <p:nvPr>
            <p:ph type="sldNum" sz="quarter" idx="5"/>
          </p:nvPr>
        </p:nvSpPr>
        <p:spPr/>
        <p:txBody>
          <a:bodyPr/>
          <a:lstStyle/>
          <a:p>
            <a:fld id="{72E22803-933A-464A-BF5A-19638B6C16CC}" type="slidenum">
              <a:rPr lang="en-US" smtClean="0"/>
              <a:t>20</a:t>
            </a:fld>
            <a:endParaRPr lang="en-US"/>
          </a:p>
        </p:txBody>
      </p:sp>
    </p:spTree>
    <p:extLst>
      <p:ext uri="{BB962C8B-B14F-4D97-AF65-F5344CB8AC3E}">
        <p14:creationId xmlns:p14="http://schemas.microsoft.com/office/powerpoint/2010/main" val="15490734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2684F5-2008-B853-2509-ACA78B04A5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5DA217-D1B4-2A41-C211-F92C4C25887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E885FC-22E7-C833-5E40-5E69480B30FA}"/>
              </a:ext>
            </a:extLst>
          </p:cNvPr>
          <p:cNvSpPr>
            <a:spLocks noGrp="1"/>
          </p:cNvSpPr>
          <p:nvPr>
            <p:ph type="body" idx="1"/>
          </p:nvPr>
        </p:nvSpPr>
        <p:spPr/>
        <p:txBody>
          <a:bodyPr/>
          <a:lstStyle/>
          <a:p>
            <a:r>
              <a:rPr lang="en-US"/>
              <a:t>Notes:</a:t>
            </a:r>
          </a:p>
          <a:p>
            <a:pPr marL="171450" indent="-171450">
              <a:buFont typeface="Arial" panose="020B0604020202020204" pitchFamily="34" charset="0"/>
              <a:buChar char="•"/>
            </a:pPr>
            <a:r>
              <a:rPr lang="en-US"/>
              <a:t>List your talking points with details. You will not read from these notes and these notes may contain information that you forget to mention in your presentation.</a:t>
            </a:r>
          </a:p>
          <a:p>
            <a:pPr marL="171450" indent="-171450">
              <a:buFont typeface="Arial" panose="020B0604020202020204" pitchFamily="34" charset="0"/>
              <a:buChar char="•"/>
            </a:pPr>
            <a:r>
              <a:rPr lang="en-US"/>
              <a:t>Everything needs to be in bullet point form and put in presenting order.</a:t>
            </a:r>
          </a:p>
        </p:txBody>
      </p:sp>
      <p:sp>
        <p:nvSpPr>
          <p:cNvPr id="4" name="Slide Number Placeholder 3">
            <a:extLst>
              <a:ext uri="{FF2B5EF4-FFF2-40B4-BE49-F238E27FC236}">
                <a16:creationId xmlns:a16="http://schemas.microsoft.com/office/drawing/2014/main" id="{BC8B229B-2160-B96A-1D32-E1CA700C966A}"/>
              </a:ext>
            </a:extLst>
          </p:cNvPr>
          <p:cNvSpPr>
            <a:spLocks noGrp="1"/>
          </p:cNvSpPr>
          <p:nvPr>
            <p:ph type="sldNum" sz="quarter" idx="5"/>
          </p:nvPr>
        </p:nvSpPr>
        <p:spPr/>
        <p:txBody>
          <a:bodyPr/>
          <a:lstStyle/>
          <a:p>
            <a:fld id="{72E22803-933A-464A-BF5A-19638B6C16CC}" type="slidenum">
              <a:rPr lang="en-US" smtClean="0"/>
              <a:t>21</a:t>
            </a:fld>
            <a:endParaRPr lang="en-US"/>
          </a:p>
        </p:txBody>
      </p:sp>
    </p:spTree>
    <p:extLst>
      <p:ext uri="{BB962C8B-B14F-4D97-AF65-F5344CB8AC3E}">
        <p14:creationId xmlns:p14="http://schemas.microsoft.com/office/powerpoint/2010/main" val="42710434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DF977B-8F6B-11B2-7F85-319ACF2CC5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3955D2-3E53-6E91-C0C0-40A8A37835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7FC010-AF74-8EAE-CBC4-B2888A09DC1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E6CB511-08F9-0DD3-553C-55E6C8E8CDEE}"/>
              </a:ext>
            </a:extLst>
          </p:cNvPr>
          <p:cNvSpPr>
            <a:spLocks noGrp="1"/>
          </p:cNvSpPr>
          <p:nvPr>
            <p:ph type="sldNum" sz="quarter" idx="5"/>
          </p:nvPr>
        </p:nvSpPr>
        <p:spPr/>
        <p:txBody>
          <a:bodyPr/>
          <a:lstStyle/>
          <a:p>
            <a:fld id="{72E22803-933A-464A-BF5A-19638B6C16CC}" type="slidenum">
              <a:rPr lang="en-US" smtClean="0"/>
              <a:t>22</a:t>
            </a:fld>
            <a:endParaRPr lang="en-US"/>
          </a:p>
        </p:txBody>
      </p:sp>
    </p:spTree>
    <p:extLst>
      <p:ext uri="{BB962C8B-B14F-4D97-AF65-F5344CB8AC3E}">
        <p14:creationId xmlns:p14="http://schemas.microsoft.com/office/powerpoint/2010/main" val="5841875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2E22803-933A-464A-BF5A-19638B6C16CC}" type="slidenum">
              <a:rPr lang="en-US" smtClean="0"/>
              <a:t>23</a:t>
            </a:fld>
            <a:endParaRPr lang="en-US"/>
          </a:p>
        </p:txBody>
      </p:sp>
    </p:spTree>
    <p:extLst>
      <p:ext uri="{BB962C8B-B14F-4D97-AF65-F5344CB8AC3E}">
        <p14:creationId xmlns:p14="http://schemas.microsoft.com/office/powerpoint/2010/main" val="212834466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Notes:</a:t>
            </a:r>
          </a:p>
          <a:p>
            <a:pPr marL="171450" indent="-171450">
              <a:buFont typeface="Arial" panose="020B0604020202020204" pitchFamily="34" charset="0"/>
              <a:buChar char="•"/>
            </a:pPr>
            <a:r>
              <a:rPr lang="en-US"/>
              <a:t>List your talking points with details. You will not read from these notes and these notes may contain information that you forget to mention in your presentation.</a:t>
            </a:r>
          </a:p>
          <a:p>
            <a:pPr marL="171450" indent="-171450">
              <a:buFont typeface="Arial" panose="020B0604020202020204" pitchFamily="34" charset="0"/>
              <a:buChar char="•"/>
            </a:pPr>
            <a:r>
              <a:rPr lang="en-US"/>
              <a:t>Everything needs to be in bullet point form and put in presenting order.</a:t>
            </a:r>
          </a:p>
        </p:txBody>
      </p:sp>
      <p:sp>
        <p:nvSpPr>
          <p:cNvPr id="4" name="Slide Number Placeholder 3"/>
          <p:cNvSpPr>
            <a:spLocks noGrp="1"/>
          </p:cNvSpPr>
          <p:nvPr>
            <p:ph type="sldNum" sz="quarter" idx="5"/>
          </p:nvPr>
        </p:nvSpPr>
        <p:spPr/>
        <p:txBody>
          <a:bodyPr/>
          <a:lstStyle/>
          <a:p>
            <a:fld id="{72E22803-933A-464A-BF5A-19638B6C16CC}" type="slidenum">
              <a:rPr lang="en-US" smtClean="0"/>
              <a:t>24</a:t>
            </a:fld>
            <a:endParaRPr lang="en-US"/>
          </a:p>
        </p:txBody>
      </p:sp>
    </p:spTree>
    <p:extLst>
      <p:ext uri="{BB962C8B-B14F-4D97-AF65-F5344CB8AC3E}">
        <p14:creationId xmlns:p14="http://schemas.microsoft.com/office/powerpoint/2010/main" val="3605793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EA0C0817-A112-4847-8014-A94B7D2A4EA3}"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5404544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332B432-ACDA-4023-A761-2BAB76577B62}"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226503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9C646AA-F36E-4540-911D-FFFC0A0EF24A}"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13082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9186D26-FA5F-4637-B602-B7C2DC34CFD4}" type="datetime1">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9963314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A7F15D8-96D1-4781-BC50-CA8A088B2FE4}" type="datetime1">
              <a:rPr lang="en-US" smtClean="0"/>
              <a:t>2/28/2025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703553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F9A96C99-B8F8-4528-BD05-0E16E943DC09}" type="datetime1">
              <a:rPr lang="en-US" smtClean="0"/>
              <a:t>2/28/2025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535831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636942-C211-4B28-8DBD-C953E00AF71B}" type="datetime1">
              <a:rPr lang="en-US" smtClean="0"/>
              <a:t>2/28/2025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28511379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E8D12A6-918A-48BD-8CB9-CA713993B0EA}" type="datetime1">
              <a:rPr lang="en-US" smtClean="0"/>
              <a:t>2/28/2025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31275789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778CE86-875F-4587-BCF6-FA054AFC0D53}" type="datetime1">
              <a:rPr lang="en-US" smtClean="0"/>
              <a:pPr/>
              <a:t>2/28/2025</a:t>
            </a:fld>
            <a:endParaRPr lang="en-US"/>
          </a:p>
        </p:txBody>
      </p:sp>
      <p:sp>
        <p:nvSpPr>
          <p:cNvPr id="6" name="Footer Placeholder 5"/>
          <p:cNvSpPr>
            <a:spLocks noGrp="1"/>
          </p:cNvSpPr>
          <p:nvPr>
            <p:ph type="ftr" sz="quarter" idx="11"/>
          </p:nvPr>
        </p:nvSpPr>
        <p:spPr/>
        <p:txBody>
          <a:bodyPr/>
          <a:lstStyle/>
          <a:p>
            <a:pPr algn="l"/>
            <a:endParaRPr lang="en-US"/>
          </a:p>
        </p:txBody>
      </p:sp>
      <p:sp>
        <p:nvSpPr>
          <p:cNvPr id="7" name="Slide Number Placeholder 6"/>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08166548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277816943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latin typeface="Arial"/>
              </a:rPr>
              <a:t>”</a:t>
            </a:r>
            <a:endParaRPr lang="en-US">
              <a:solidFill>
                <a:schemeClr val="accent1">
                  <a:lumMod val="60000"/>
                  <a:lumOff val="40000"/>
                </a:schemeClr>
              </a:solidFill>
              <a:latin typeface="Arial"/>
            </a:endParaRPr>
          </a:p>
        </p:txBody>
      </p:sp>
    </p:spTree>
    <p:extLst>
      <p:ext uri="{BB962C8B-B14F-4D97-AF65-F5344CB8AC3E}">
        <p14:creationId xmlns:p14="http://schemas.microsoft.com/office/powerpoint/2010/main" val="3157651760"/>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5774362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409116269"/>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6FA2B21-3FCD-4721-B95C-427943F61125}"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315390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34F40B7-36AB-4376-BE14-EF7004D79BB9}"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110879657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F87CAB8-DCAE-46A5-AADA-B3FAD11A54E0}" type="datetime1">
              <a:rPr lang="en-US" smtClean="0"/>
              <a:t>2/28/2025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4B7E4EF-A1BD-40F4-AB7B-04F084DD991D}" type="slidenum">
              <a:rPr lang="en-US" smtClean="0"/>
              <a:t>‹#›</a:t>
            </a:fld>
            <a:endParaRPr lang="en-US"/>
          </a:p>
        </p:txBody>
      </p:sp>
    </p:spTree>
    <p:extLst>
      <p:ext uri="{BB962C8B-B14F-4D97-AF65-F5344CB8AC3E}">
        <p14:creationId xmlns:p14="http://schemas.microsoft.com/office/powerpoint/2010/main" val="42076195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6FA2B21-3FCD-4721-B95C-427943F61125}" type="datetime1">
              <a:rPr lang="en-US" smtClean="0"/>
              <a:t>2/28/2025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34B7E4EF-A1BD-40F4-AB7B-04F084DD991D}" type="slidenum">
              <a:rPr lang="en-US" smtClean="0"/>
              <a:t>‹#›</a:t>
            </a:fld>
            <a:endParaRPr lang="en-US"/>
          </a:p>
        </p:txBody>
      </p:sp>
    </p:spTree>
    <p:extLst>
      <p:ext uri="{BB962C8B-B14F-4D97-AF65-F5344CB8AC3E}">
        <p14:creationId xmlns:p14="http://schemas.microsoft.com/office/powerpoint/2010/main" val="898286224"/>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Lst>
  <p:hf sldNum="0"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8.jpe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2.emf"/></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3.e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F13BE226-F91B-5068-CE68-55E005528DB8}"/>
              </a:ext>
            </a:extLst>
          </p:cNvPr>
          <p:cNvGrpSpPr/>
          <p:nvPr/>
        </p:nvGrpSpPr>
        <p:grpSpPr>
          <a:xfrm>
            <a:off x="0" y="0"/>
            <a:ext cx="9144000" cy="894665"/>
            <a:chOff x="0" y="0"/>
            <a:chExt cx="9144000" cy="894665"/>
          </a:xfrm>
        </p:grpSpPr>
        <p:sp>
          <p:nvSpPr>
            <p:cNvPr id="12" name="Rectangle 11">
              <a:extLst>
                <a:ext uri="{FF2B5EF4-FFF2-40B4-BE49-F238E27FC236}">
                  <a16:creationId xmlns:a16="http://schemas.microsoft.com/office/drawing/2014/main" id="{48F050D0-51F3-4C4C-97A7-2C7F55A8711E}"/>
                </a:ext>
              </a:extLst>
            </p:cNvPr>
            <p:cNvSpPr/>
            <p:nvPr/>
          </p:nvSpPr>
          <p:spPr>
            <a:xfrm>
              <a:off x="0" y="0"/>
              <a:ext cx="9144000" cy="894665"/>
            </a:xfrm>
            <a:prstGeom prst="rect">
              <a:avLst/>
            </a:prstGeom>
            <a:gradFill>
              <a:gsLst>
                <a:gs pos="0">
                  <a:schemeClr val="bg1"/>
                </a:gs>
                <a:gs pos="74000">
                  <a:srgbClr val="003058"/>
                </a:gs>
                <a:gs pos="83000">
                  <a:srgbClr val="003058"/>
                </a:gs>
                <a:gs pos="100000">
                  <a:srgbClr val="003058"/>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84939C93-C320-E8FC-495D-E709655C763B}"/>
                </a:ext>
              </a:extLst>
            </p:cNvPr>
            <p:cNvSpPr txBox="1"/>
            <p:nvPr/>
          </p:nvSpPr>
          <p:spPr>
            <a:xfrm>
              <a:off x="233234" y="108634"/>
              <a:ext cx="6822332" cy="646331"/>
            </a:xfrm>
            <a:prstGeom prst="rect">
              <a:avLst/>
            </a:prstGeom>
            <a:noFill/>
          </p:spPr>
          <p:txBody>
            <a:bodyPr wrap="square" rtlCol="0">
              <a:spAutoFit/>
            </a:bodyPr>
            <a:lstStyle/>
            <a:p>
              <a:r>
                <a:rPr lang="en-US" sz="3600">
                  <a:solidFill>
                    <a:schemeClr val="bg1"/>
                  </a:solidFill>
                  <a:effectLst/>
                  <a:latin typeface="Trailblazers Font B Width 300" pitchFamily="2" charset="0"/>
                </a:rPr>
                <a:t>Test Readiness Review</a:t>
              </a:r>
            </a:p>
          </p:txBody>
        </p:sp>
      </p:grpSp>
      <p:sp>
        <p:nvSpPr>
          <p:cNvPr id="2" name="Title 1">
            <a:extLst>
              <a:ext uri="{FF2B5EF4-FFF2-40B4-BE49-F238E27FC236}">
                <a16:creationId xmlns:a16="http://schemas.microsoft.com/office/drawing/2014/main" id="{48AECAD2-8DF9-716B-D426-CC6AC3EF3F69}"/>
              </a:ext>
            </a:extLst>
          </p:cNvPr>
          <p:cNvSpPr txBox="1">
            <a:spLocks/>
          </p:cNvSpPr>
          <p:nvPr/>
        </p:nvSpPr>
        <p:spPr>
          <a:xfrm>
            <a:off x="290512" y="1909295"/>
            <a:ext cx="9144000" cy="149382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7200">
                <a:latin typeface="Bison Bold"/>
              </a:rPr>
              <a:t>CubeSat | Control</a:t>
            </a:r>
            <a:endParaRPr lang="en-US"/>
          </a:p>
        </p:txBody>
      </p:sp>
      <p:sp>
        <p:nvSpPr>
          <p:cNvPr id="3" name="Subtitle 2">
            <a:extLst>
              <a:ext uri="{FF2B5EF4-FFF2-40B4-BE49-F238E27FC236}">
                <a16:creationId xmlns:a16="http://schemas.microsoft.com/office/drawing/2014/main" id="{4391D4F7-24D0-AF4C-C6C9-A8052ED58C30}"/>
              </a:ext>
            </a:extLst>
          </p:cNvPr>
          <p:cNvSpPr txBox="1">
            <a:spLocks/>
          </p:cNvSpPr>
          <p:nvPr/>
        </p:nvSpPr>
        <p:spPr>
          <a:xfrm>
            <a:off x="290512" y="4484251"/>
            <a:ext cx="9144000" cy="2032887"/>
          </a:xfrm>
          <a:prstGeom prst="rect">
            <a:avLst/>
          </a:prstGeom>
        </p:spPr>
        <p:txBody>
          <a:bodyPr vert="horz" lIns="91440" tIns="45720" rIns="91440" bIns="45720" rtlCol="0" anchor="t">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a:latin typeface="Altivo Regular"/>
              </a:rPr>
              <a:t>Ben Sherman</a:t>
            </a:r>
          </a:p>
          <a:p>
            <a:pPr marL="0" indent="0" algn="ctr">
              <a:buNone/>
            </a:pPr>
            <a:r>
              <a:rPr lang="en-US">
                <a:latin typeface="Altivo Regular"/>
              </a:rPr>
              <a:t>Trace Shafer</a:t>
            </a:r>
          </a:p>
          <a:p>
            <a:pPr marL="0" indent="0" algn="ctr">
              <a:buNone/>
            </a:pPr>
            <a:r>
              <a:rPr lang="en-US">
                <a:latin typeface="Altivo Regular"/>
              </a:rPr>
              <a:t>Lauric Brown</a:t>
            </a:r>
            <a:endParaRPr lang="en-US">
              <a:latin typeface="Altivo Regular" panose="020B0000000000000000" pitchFamily="34" charset="0"/>
            </a:endParaRPr>
          </a:p>
          <a:p>
            <a:pPr marL="0" indent="0" algn="ctr">
              <a:buNone/>
            </a:pPr>
            <a:r>
              <a:rPr lang="en-US">
                <a:latin typeface="Altivo Regular"/>
              </a:rPr>
              <a:t>Micah Gifford</a:t>
            </a:r>
            <a:endParaRPr lang="en-US">
              <a:latin typeface="Altivo Regular" panose="020B0000000000000000" pitchFamily="34" charset="0"/>
            </a:endParaRPr>
          </a:p>
        </p:txBody>
      </p:sp>
      <p:sp>
        <p:nvSpPr>
          <p:cNvPr id="6" name="Subtitle 2">
            <a:extLst>
              <a:ext uri="{FF2B5EF4-FFF2-40B4-BE49-F238E27FC236}">
                <a16:creationId xmlns:a16="http://schemas.microsoft.com/office/drawing/2014/main" id="{90FB13CA-CF7A-FFC2-89D7-1C0FA9ADC0C2}"/>
              </a:ext>
            </a:extLst>
          </p:cNvPr>
          <p:cNvSpPr txBox="1">
            <a:spLocks/>
          </p:cNvSpPr>
          <p:nvPr/>
        </p:nvSpPr>
        <p:spPr>
          <a:xfrm>
            <a:off x="290512" y="3403117"/>
            <a:ext cx="9144000" cy="820542"/>
          </a:xfrm>
          <a:prstGeom prst="rect">
            <a:avLst/>
          </a:prstGeom>
        </p:spPr>
        <p:txBody>
          <a:bodyPr vert="horz" lIns="91440" tIns="45720" rIns="91440" bIns="45720" rtlCol="0" anchor="t">
            <a:normAutofit fontScale="92500" lnSpcReduction="10000"/>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a:latin typeface="Altivo Regular"/>
              </a:rPr>
              <a:t>MECH/ECE 4010 – Product Design II</a:t>
            </a:r>
          </a:p>
          <a:p>
            <a:r>
              <a:rPr lang="en-US">
                <a:latin typeface="Altivo Regular"/>
              </a:rPr>
              <a:t>28 Feb 2025</a:t>
            </a:r>
          </a:p>
        </p:txBody>
      </p:sp>
      <p:cxnSp>
        <p:nvCxnSpPr>
          <p:cNvPr id="17" name="Straight Connector 16">
            <a:extLst>
              <a:ext uri="{FF2B5EF4-FFF2-40B4-BE49-F238E27FC236}">
                <a16:creationId xmlns:a16="http://schemas.microsoft.com/office/drawing/2014/main" id="{0C80312E-CC29-76BF-3F03-CFDCACC8934D}"/>
              </a:ext>
            </a:extLst>
          </p:cNvPr>
          <p:cNvCxnSpPr/>
          <p:nvPr/>
        </p:nvCxnSpPr>
        <p:spPr>
          <a:xfrm>
            <a:off x="1854200" y="3196773"/>
            <a:ext cx="5880100" cy="0"/>
          </a:xfrm>
          <a:prstGeom prst="line">
            <a:avLst/>
          </a:prstGeom>
          <a:ln w="38100">
            <a:solidFill>
              <a:srgbClr val="BA1C2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87420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C5B618-E765-1073-0B45-0FB96B0C8428}"/>
              </a:ext>
            </a:extLst>
          </p:cNvPr>
          <p:cNvSpPr>
            <a:spLocks noGrp="1"/>
          </p:cNvSpPr>
          <p:nvPr>
            <p:ph type="title"/>
          </p:nvPr>
        </p:nvSpPr>
        <p:spPr/>
        <p:txBody>
          <a:bodyPr/>
          <a:lstStyle/>
          <a:p>
            <a:r>
              <a:rPr lang="en-US"/>
              <a:t>Overview</a:t>
            </a:r>
          </a:p>
        </p:txBody>
      </p:sp>
      <p:sp>
        <p:nvSpPr>
          <p:cNvPr id="3" name="Content Placeholder 2">
            <a:extLst>
              <a:ext uri="{FF2B5EF4-FFF2-40B4-BE49-F238E27FC236}">
                <a16:creationId xmlns:a16="http://schemas.microsoft.com/office/drawing/2014/main" id="{ADFC284E-1BD7-A4DF-D042-24215394D896}"/>
              </a:ext>
            </a:extLst>
          </p:cNvPr>
          <p:cNvSpPr>
            <a:spLocks noGrp="1"/>
          </p:cNvSpPr>
          <p:nvPr>
            <p:ph idx="1"/>
          </p:nvPr>
        </p:nvSpPr>
        <p:spPr>
          <a:xfrm>
            <a:off x="1066800" y="1676400"/>
            <a:ext cx="9843856" cy="4927600"/>
          </a:xfrm>
        </p:spPr>
        <p:txBody>
          <a:bodyPr>
            <a:normAutofit fontScale="92500" lnSpcReduction="20000"/>
          </a:bodyPr>
          <a:lstStyle/>
          <a:p>
            <a:pPr marL="457200" indent="-457200"/>
            <a:r>
              <a:rPr lang="en-US" sz="3000"/>
              <a:t>Design Statement</a:t>
            </a:r>
          </a:p>
          <a:p>
            <a:pPr marL="457200" indent="-457200"/>
            <a:r>
              <a:rPr lang="en-US" sz="3000"/>
              <a:t>Metrics Tests</a:t>
            </a:r>
          </a:p>
          <a:p>
            <a:pPr marL="457200" indent="-457200"/>
            <a:r>
              <a:rPr lang="en-US" sz="3000"/>
              <a:t>Prototype Completion Check</a:t>
            </a:r>
          </a:p>
          <a:p>
            <a:pPr marL="457200" indent="-457200"/>
            <a:r>
              <a:rPr lang="en-US" sz="3000"/>
              <a:t>Jigs &amp; Fixtures</a:t>
            </a:r>
          </a:p>
          <a:p>
            <a:pPr marL="457200" indent="-457200"/>
            <a:r>
              <a:rPr lang="en-US" sz="3000"/>
              <a:t>Detailed Test Plan</a:t>
            </a:r>
          </a:p>
          <a:p>
            <a:pPr marL="457200" indent="-457200"/>
            <a:r>
              <a:rPr lang="en-US" sz="3000"/>
              <a:t>Calibration</a:t>
            </a:r>
          </a:p>
          <a:p>
            <a:pPr marL="457200" indent="-457200"/>
            <a:r>
              <a:rPr lang="en-US" sz="3000"/>
              <a:t>Fabrication Plan</a:t>
            </a:r>
          </a:p>
          <a:p>
            <a:pPr marL="457200" indent="-457200"/>
            <a:r>
              <a:rPr lang="en-US" sz="3000"/>
              <a:t>Bill of Materials</a:t>
            </a:r>
          </a:p>
          <a:p>
            <a:pPr marL="457200" indent="-457200"/>
            <a:r>
              <a:rPr lang="en-US" sz="3000"/>
              <a:t>Budget</a:t>
            </a:r>
          </a:p>
          <a:p>
            <a:pPr marL="457200" indent="-457200"/>
            <a:r>
              <a:rPr lang="en-US" sz="3000"/>
              <a:t>Schedule</a:t>
            </a:r>
          </a:p>
        </p:txBody>
      </p:sp>
    </p:spTree>
    <p:extLst>
      <p:ext uri="{BB962C8B-B14F-4D97-AF65-F5344CB8AC3E}">
        <p14:creationId xmlns:p14="http://schemas.microsoft.com/office/powerpoint/2010/main" val="24770565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a:t>Design Statement</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67809" y="1543050"/>
            <a:ext cx="8606193" cy="4530724"/>
          </a:xfrm>
        </p:spPr>
        <p:txBody>
          <a:bodyPr vert="horz" lIns="91440" tIns="45720" rIns="91440" bIns="45720" rtlCol="0" anchor="t">
            <a:normAutofit/>
          </a:bodyPr>
          <a:lstStyle/>
          <a:p>
            <a:pPr marL="0" indent="0">
              <a:buNone/>
            </a:pPr>
            <a:endParaRPr lang="en-US" sz="1800"/>
          </a:p>
          <a:p>
            <a:r>
              <a:rPr lang="en-US"/>
              <a:t>Stakeholders: Utah NASA Space Grant Consortium, Utah Division of Water Resources</a:t>
            </a:r>
          </a:p>
          <a:p>
            <a:r>
              <a:rPr lang="en-US"/>
              <a:t>Sponsors: RAM, PTC, Washington County and Water Conservancy District</a:t>
            </a:r>
            <a:endParaRPr lang="en-US" sz="1800"/>
          </a:p>
          <a:p>
            <a:r>
              <a:rPr lang="en-US">
                <a:solidFill>
                  <a:schemeClr val="tx1">
                    <a:lumMod val="76000"/>
                    <a:lumOff val="24000"/>
                  </a:schemeClr>
                </a:solidFill>
              </a:rPr>
              <a:t>Design</a:t>
            </a:r>
            <a:r>
              <a:rPr lang="en-US" sz="1800">
                <a:solidFill>
                  <a:schemeClr val="tx1">
                    <a:lumMod val="76000"/>
                    <a:lumOff val="24000"/>
                  </a:schemeClr>
                </a:solidFill>
              </a:rPr>
              <a:t> statement</a:t>
            </a:r>
            <a:r>
              <a:rPr lang="en-US">
                <a:solidFill>
                  <a:schemeClr val="tx1">
                    <a:lumMod val="76000"/>
                    <a:lumOff val="24000"/>
                  </a:schemeClr>
                </a:solidFill>
              </a:rPr>
              <a:t>: </a:t>
            </a:r>
            <a:r>
              <a:rPr lang="en-US">
                <a:solidFill>
                  <a:schemeClr val="tx1">
                    <a:lumMod val="76000"/>
                    <a:lumOff val="24000"/>
                  </a:schemeClr>
                </a:solidFill>
                <a:latin typeface="Trebuchet MS"/>
                <a:cs typeface="Calibri"/>
              </a:rPr>
              <a:t>Design, prototype, and evaluate attitude control system to point at a set location on Earth while taking a photo from low Earth orbit.</a:t>
            </a:r>
          </a:p>
          <a:p>
            <a:pPr marL="0" indent="0">
              <a:buNone/>
            </a:pPr>
            <a:endParaRPr lang="en-US" sz="1800"/>
          </a:p>
          <a:p>
            <a:pPr marL="0" indent="0">
              <a:buNone/>
            </a:pPr>
            <a:endParaRPr lang="en-US" sz="1800"/>
          </a:p>
          <a:p>
            <a:endParaRPr lang="en-US" sz="1800"/>
          </a:p>
          <a:p>
            <a:endParaRPr lang="en-US" sz="1800"/>
          </a:p>
        </p:txBody>
      </p:sp>
      <p:pic>
        <p:nvPicPr>
          <p:cNvPr id="4" name="Picture 3" descr="Utah NASA Space Grant Consortium">
            <a:extLst>
              <a:ext uri="{FF2B5EF4-FFF2-40B4-BE49-F238E27FC236}">
                <a16:creationId xmlns:a16="http://schemas.microsoft.com/office/drawing/2014/main" id="{155C269B-2FD1-EBD6-58A9-8B373CE1AEA6}"/>
              </a:ext>
            </a:extLst>
          </p:cNvPr>
          <p:cNvPicPr>
            <a:picLocks noChangeAspect="1"/>
          </p:cNvPicPr>
          <p:nvPr/>
        </p:nvPicPr>
        <p:blipFill>
          <a:blip r:embed="rId3"/>
          <a:stretch>
            <a:fillRect/>
          </a:stretch>
        </p:blipFill>
        <p:spPr>
          <a:xfrm>
            <a:off x="971550" y="3810000"/>
            <a:ext cx="2743200" cy="2743200"/>
          </a:xfrm>
          <a:prstGeom prst="rect">
            <a:avLst/>
          </a:prstGeom>
        </p:spPr>
      </p:pic>
      <p:pic>
        <p:nvPicPr>
          <p:cNvPr id="5" name="Picture 4" descr="Utah Division of Water Resources | LinkedIn">
            <a:extLst>
              <a:ext uri="{FF2B5EF4-FFF2-40B4-BE49-F238E27FC236}">
                <a16:creationId xmlns:a16="http://schemas.microsoft.com/office/drawing/2014/main" id="{BB14C511-2104-A710-DDC5-8877D87FF88A}"/>
              </a:ext>
            </a:extLst>
          </p:cNvPr>
          <p:cNvPicPr>
            <a:picLocks noChangeAspect="1"/>
          </p:cNvPicPr>
          <p:nvPr/>
        </p:nvPicPr>
        <p:blipFill>
          <a:blip r:embed="rId4"/>
          <a:stretch>
            <a:fillRect/>
          </a:stretch>
        </p:blipFill>
        <p:spPr>
          <a:xfrm>
            <a:off x="4714875" y="3810000"/>
            <a:ext cx="2752725" cy="2743200"/>
          </a:xfrm>
          <a:prstGeom prst="rect">
            <a:avLst/>
          </a:prstGeom>
        </p:spPr>
      </p:pic>
      <p:pic>
        <p:nvPicPr>
          <p:cNvPr id="6" name="Picture 5" descr="Home - RAM Aviation, Space &amp; Defense">
            <a:extLst>
              <a:ext uri="{FF2B5EF4-FFF2-40B4-BE49-F238E27FC236}">
                <a16:creationId xmlns:a16="http://schemas.microsoft.com/office/drawing/2014/main" id="{D90C3CFE-C820-39E9-65E6-7F436FDAEFD6}"/>
              </a:ext>
            </a:extLst>
          </p:cNvPr>
          <p:cNvPicPr>
            <a:picLocks noChangeAspect="1"/>
          </p:cNvPicPr>
          <p:nvPr/>
        </p:nvPicPr>
        <p:blipFill>
          <a:blip r:embed="rId5"/>
          <a:stretch>
            <a:fillRect/>
          </a:stretch>
        </p:blipFill>
        <p:spPr>
          <a:xfrm>
            <a:off x="8543925" y="5291746"/>
            <a:ext cx="2743200" cy="1208458"/>
          </a:xfrm>
          <a:prstGeom prst="rect">
            <a:avLst/>
          </a:prstGeom>
        </p:spPr>
      </p:pic>
      <p:pic>
        <p:nvPicPr>
          <p:cNvPr id="7" name="Picture 6" descr="Onshape Reviews &amp; Testimonials">
            <a:extLst>
              <a:ext uri="{FF2B5EF4-FFF2-40B4-BE49-F238E27FC236}">
                <a16:creationId xmlns:a16="http://schemas.microsoft.com/office/drawing/2014/main" id="{CF3E5C51-BEDB-A2A5-A8CF-0B23F21CDB33}"/>
              </a:ext>
            </a:extLst>
          </p:cNvPr>
          <p:cNvPicPr>
            <a:picLocks noChangeAspect="1"/>
          </p:cNvPicPr>
          <p:nvPr/>
        </p:nvPicPr>
        <p:blipFill>
          <a:blip r:embed="rId6"/>
          <a:stretch>
            <a:fillRect/>
          </a:stretch>
        </p:blipFill>
        <p:spPr>
          <a:xfrm>
            <a:off x="8543925" y="3657600"/>
            <a:ext cx="2743200" cy="1524000"/>
          </a:xfrm>
          <a:prstGeom prst="rect">
            <a:avLst/>
          </a:prstGeom>
        </p:spPr>
      </p:pic>
      <p:sp>
        <p:nvSpPr>
          <p:cNvPr id="8" name="Slide Number Placeholder 7">
            <a:extLst>
              <a:ext uri="{FF2B5EF4-FFF2-40B4-BE49-F238E27FC236}">
                <a16:creationId xmlns:a16="http://schemas.microsoft.com/office/drawing/2014/main" id="{70DFC04F-AF8B-4C0C-99B8-DEDB6D1CEFA2}"/>
              </a:ext>
            </a:extLst>
          </p:cNvPr>
          <p:cNvSpPr>
            <a:spLocks noGrp="1"/>
          </p:cNvSpPr>
          <p:nvPr>
            <p:ph type="sldNum" sz="quarter" idx="12"/>
          </p:nvPr>
        </p:nvSpPr>
        <p:spPr>
          <a:xfrm>
            <a:off x="494413" y="6489037"/>
            <a:ext cx="683339" cy="365125"/>
          </a:xfrm>
        </p:spPr>
        <p:txBody>
          <a:bodyPr/>
          <a:lstStyle/>
          <a:p>
            <a:fld id="{34B7E4EF-A1BD-40F4-AB7B-04F084DD991D}" type="slidenum">
              <a:rPr lang="en-US" smtClean="0"/>
              <a:t>3</a:t>
            </a:fld>
            <a:endParaRPr lang="en-US"/>
          </a:p>
        </p:txBody>
      </p:sp>
    </p:spTree>
    <p:extLst>
      <p:ext uri="{BB962C8B-B14F-4D97-AF65-F5344CB8AC3E}">
        <p14:creationId xmlns:p14="http://schemas.microsoft.com/office/powerpoint/2010/main" val="3664898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a:t>Metrics Tests</a:t>
            </a:r>
          </a:p>
        </p:txBody>
      </p:sp>
      <p:graphicFrame>
        <p:nvGraphicFramePr>
          <p:cNvPr id="5" name="Table 4">
            <a:extLst>
              <a:ext uri="{FF2B5EF4-FFF2-40B4-BE49-F238E27FC236}">
                <a16:creationId xmlns:a16="http://schemas.microsoft.com/office/drawing/2014/main" id="{BC7FD33A-603C-2DB7-FBEF-1A5E82F9A564}"/>
              </a:ext>
            </a:extLst>
          </p:cNvPr>
          <p:cNvGraphicFramePr>
            <a:graphicFrameLocks noGrp="1"/>
          </p:cNvGraphicFramePr>
          <p:nvPr>
            <p:extLst>
              <p:ext uri="{D42A27DB-BD31-4B8C-83A1-F6EECF244321}">
                <p14:modId xmlns:p14="http://schemas.microsoft.com/office/powerpoint/2010/main" val="3723585806"/>
              </p:ext>
            </p:extLst>
          </p:nvPr>
        </p:nvGraphicFramePr>
        <p:xfrm>
          <a:off x="677334" y="1435734"/>
          <a:ext cx="11118425" cy="4241286"/>
        </p:xfrm>
        <a:graphic>
          <a:graphicData uri="http://schemas.openxmlformats.org/drawingml/2006/table">
            <a:tbl>
              <a:tblPr firstRow="1" bandRow="1">
                <a:tableStyleId>{5C22544A-7EE6-4342-B048-85BDC9FD1C3A}</a:tableStyleId>
              </a:tblPr>
              <a:tblGrid>
                <a:gridCol w="531706">
                  <a:extLst>
                    <a:ext uri="{9D8B030D-6E8A-4147-A177-3AD203B41FA5}">
                      <a16:colId xmlns:a16="http://schemas.microsoft.com/office/drawing/2014/main" val="3379832835"/>
                    </a:ext>
                  </a:extLst>
                </a:gridCol>
                <a:gridCol w="1991360">
                  <a:extLst>
                    <a:ext uri="{9D8B030D-6E8A-4147-A177-3AD203B41FA5}">
                      <a16:colId xmlns:a16="http://schemas.microsoft.com/office/drawing/2014/main" val="1031752385"/>
                    </a:ext>
                  </a:extLst>
                </a:gridCol>
                <a:gridCol w="3078480">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80">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r>
                        <a:rPr lang="en-US" sz="1200" b="1" dirty="0"/>
                        <a:t>1</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Pointing Accuracy</a:t>
                      </a: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How accurately the attitude and control can be maintained in a desired direction</a:t>
                      </a: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rad</a:t>
                      </a:r>
                    </a:p>
                  </a:txBody>
                  <a:tcPr anchor="ctr"/>
                </a:tc>
                <a:tc>
                  <a:txBody>
                    <a:bodyPr/>
                    <a:lstStyle/>
                    <a:p>
                      <a:pPr lvl="0" algn="ctr">
                        <a:lnSpc>
                          <a:spcPct val="100000"/>
                        </a:lnSpc>
                        <a:spcBef>
                          <a:spcPts val="0"/>
                        </a:spcBef>
                        <a:spcAft>
                          <a:spcPts val="0"/>
                        </a:spcAft>
                        <a:buNone/>
                      </a:pPr>
                      <a:r>
                        <a:rPr lang="en-US" sz="1200" b="0" i="0" u="none" strike="noStrike" noProof="0" dirty="0">
                          <a:latin typeface="+mn-lt"/>
                        </a:rPr>
                        <a:t>0.00174533</a:t>
                      </a:r>
                      <a:r>
                        <a:rPr lang="en-US" sz="1200" b="0" i="0" u="none" strike="noStrike" noProof="0" dirty="0">
                          <a:latin typeface="Trebuchet MS"/>
                        </a:rPr>
                        <a:t> to </a:t>
                      </a:r>
                      <a:r>
                        <a:rPr lang="en-US" sz="1200" b="0" i="0" u="none" strike="noStrike" noProof="0" dirty="0">
                          <a:latin typeface="+mn-lt"/>
                        </a:rPr>
                        <a:t>0.0174533</a:t>
                      </a:r>
                      <a:endParaRPr lang="en-US" sz="1200" b="0" i="0" u="none" strike="noStrike" noProof="0" dirty="0">
                        <a:latin typeface="Trebuchet MS"/>
                      </a:endParaRPr>
                    </a:p>
                  </a:txBody>
                  <a:tcPr anchor="ctr"/>
                </a:tc>
                <a:tc>
                  <a:txBody>
                    <a:bodyPr/>
                    <a:lstStyle/>
                    <a:p>
                      <a:pPr algn="ctr"/>
                      <a:r>
                        <a:rPr lang="en-US" sz="1200" dirty="0"/>
                        <a:t>Spherical Bearing</a:t>
                      </a:r>
                    </a:p>
                  </a:txBody>
                  <a:tcPr anchor="ctr"/>
                </a:tc>
                <a:extLst>
                  <a:ext uri="{0D108BD9-81ED-4DB2-BD59-A6C34878D82A}">
                    <a16:rowId xmlns:a16="http://schemas.microsoft.com/office/drawing/2014/main" val="1280095861"/>
                  </a:ext>
                </a:extLst>
              </a:tr>
              <a:tr h="453692">
                <a:tc>
                  <a:txBody>
                    <a:bodyPr/>
                    <a:lstStyle/>
                    <a:p>
                      <a:pPr algn="ctr"/>
                      <a:r>
                        <a:rPr lang="en-US" sz="1200" b="1" dirty="0"/>
                        <a:t>2</a:t>
                      </a: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Rotate to Fix blur</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The CubeSat will need to rotate while taking a picture to stop the blur</a:t>
                      </a: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rad</a:t>
                      </a: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0.288</a:t>
                      </a:r>
                    </a:p>
                  </a:txBody>
                  <a:tcPr anchor="ctr"/>
                </a:tc>
                <a:tc>
                  <a:txBody>
                    <a:bodyPr/>
                    <a:lstStyle/>
                    <a:p>
                      <a:pPr algn="ctr"/>
                      <a:r>
                        <a:rPr lang="en-US" sz="1200" dirty="0"/>
                        <a:t>Spherical Bearing</a:t>
                      </a:r>
                    </a:p>
                  </a:txBody>
                  <a:tcPr anchor="ctr"/>
                </a:tc>
                <a:extLst>
                  <a:ext uri="{0D108BD9-81ED-4DB2-BD59-A6C34878D82A}">
                    <a16:rowId xmlns:a16="http://schemas.microsoft.com/office/drawing/2014/main" val="115401492"/>
                  </a:ext>
                </a:extLst>
              </a:tr>
              <a:tr h="453692">
                <a:tc>
                  <a:txBody>
                    <a:bodyPr/>
                    <a:lstStyle/>
                    <a:p>
                      <a:pPr algn="ctr"/>
                      <a:r>
                        <a:rPr lang="en-US" sz="1200" b="1"/>
                        <a:t>3</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Sun Sensor</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Locates the sun and is required to back up star tracker (response time)</a:t>
                      </a:r>
                    </a:p>
                  </a:txBody>
                  <a:tcPr anchor="ctr"/>
                </a:tc>
                <a:tc>
                  <a:txBody>
                    <a:bodyPr/>
                    <a:lstStyle/>
                    <a:p>
                      <a:pPr lvl="0" algn="ctr">
                        <a:buNone/>
                      </a:pPr>
                      <a:r>
                        <a:rPr lang="en-US" sz="1200" b="0" i="0" u="none" strike="noStrike" noProof="0" err="1">
                          <a:latin typeface="Trebuchet MS"/>
                        </a:rPr>
                        <a:t>ms</a:t>
                      </a:r>
                      <a:endParaRPr lang="en-US" err="1"/>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&lt;10</a:t>
                      </a:r>
                    </a:p>
                  </a:txBody>
                  <a:tcPr anchor="ctr"/>
                </a:tc>
                <a:tc>
                  <a:txBody>
                    <a:bodyPr/>
                    <a:lstStyle/>
                    <a:p>
                      <a:pPr algn="ctr"/>
                      <a:r>
                        <a:rPr lang="en-US" sz="1200"/>
                        <a:t>Put it in the sun</a:t>
                      </a:r>
                    </a:p>
                  </a:txBody>
                  <a:tcPr anchor="ctr"/>
                </a:tc>
                <a:extLst>
                  <a:ext uri="{0D108BD9-81ED-4DB2-BD59-A6C34878D82A}">
                    <a16:rowId xmlns:a16="http://schemas.microsoft.com/office/drawing/2014/main" val="3532025305"/>
                  </a:ext>
                </a:extLst>
              </a:tr>
              <a:tr h="453692">
                <a:tc>
                  <a:txBody>
                    <a:bodyPr/>
                    <a:lstStyle/>
                    <a:p>
                      <a:pPr algn="ctr"/>
                      <a:r>
                        <a:rPr lang="en-US" sz="1200" b="1"/>
                        <a:t>4</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IMU</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Tracks acceleration (accuracy)</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Gravity force</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-16 to 16</a:t>
                      </a:r>
                    </a:p>
                  </a:txBody>
                  <a:tcPr anchor="ctr"/>
                </a:tc>
                <a:tc>
                  <a:txBody>
                    <a:bodyPr/>
                    <a:lstStyle/>
                    <a:p>
                      <a:pPr algn="ctr"/>
                      <a:r>
                        <a:rPr lang="en-US" sz="1200"/>
                        <a:t>Spherical Bearing (among others)</a:t>
                      </a:r>
                    </a:p>
                  </a:txBody>
                  <a:tcPr anchor="ctr"/>
                </a:tc>
                <a:extLst>
                  <a:ext uri="{0D108BD9-81ED-4DB2-BD59-A6C34878D82A}">
                    <a16:rowId xmlns:a16="http://schemas.microsoft.com/office/drawing/2014/main" val="3277508314"/>
                  </a:ext>
                </a:extLst>
              </a:tr>
              <a:tr h="453692">
                <a:tc>
                  <a:txBody>
                    <a:bodyPr/>
                    <a:lstStyle/>
                    <a:p>
                      <a:pPr algn="ctr"/>
                      <a:r>
                        <a:rPr lang="en-US" sz="1200" b="1"/>
                        <a:t>5</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Magnetometer</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Range to cover </a:t>
                      </a:r>
                      <a:r>
                        <a:rPr lang="en-US" sz="1200" b="0" i="0" u="none" strike="noStrike" noProof="0" err="1">
                          <a:latin typeface="Trebuchet MS"/>
                        </a:rPr>
                        <a:t>earths</a:t>
                      </a:r>
                      <a:r>
                        <a:rPr lang="en-US" sz="1200" b="0" i="0" u="none" strike="noStrike" noProof="0">
                          <a:latin typeface="Trebuchet MS"/>
                        </a:rPr>
                        <a:t> magnetic field</a:t>
                      </a:r>
                    </a:p>
                  </a:txBody>
                  <a:tcPr anchor="ctr"/>
                </a:tc>
                <a:tc>
                  <a:txBody>
                    <a:bodyPr/>
                    <a:lstStyle/>
                    <a:p>
                      <a:pPr lvl="0" algn="ctr">
                        <a:lnSpc>
                          <a:spcPct val="100000"/>
                        </a:lnSpc>
                        <a:spcBef>
                          <a:spcPts val="0"/>
                        </a:spcBef>
                        <a:spcAft>
                          <a:spcPts val="0"/>
                        </a:spcAft>
                        <a:buNone/>
                      </a:pPr>
                      <a:r>
                        <a:rPr lang="en-US" sz="1200" b="0" i="0" u="none" strike="noStrike" noProof="0" err="1">
                          <a:latin typeface="Trebuchet MS"/>
                        </a:rPr>
                        <a:t>microtesla</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20 to 10000</a:t>
                      </a:r>
                    </a:p>
                  </a:txBody>
                  <a:tcPr anchor="ctr"/>
                </a:tc>
                <a:tc>
                  <a:txBody>
                    <a:bodyPr/>
                    <a:lstStyle/>
                    <a:p>
                      <a:pPr algn="ctr"/>
                      <a:r>
                        <a:rPr lang="en-US" sz="1200"/>
                        <a:t>Measure magnetic field in the room and cross-check it</a:t>
                      </a:r>
                    </a:p>
                  </a:txBody>
                  <a:tcPr anchor="ctr"/>
                </a:tc>
                <a:extLst>
                  <a:ext uri="{0D108BD9-81ED-4DB2-BD59-A6C34878D82A}">
                    <a16:rowId xmlns:a16="http://schemas.microsoft.com/office/drawing/2014/main" val="1579338450"/>
                  </a:ext>
                </a:extLst>
              </a:tr>
              <a:tr h="453692">
                <a:tc>
                  <a:txBody>
                    <a:bodyPr/>
                    <a:lstStyle/>
                    <a:p>
                      <a:pPr algn="ctr"/>
                      <a:r>
                        <a:rPr lang="en-US" sz="1200" b="1"/>
                        <a:t>6</a:t>
                      </a: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Magnetic dipole</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Magnetorquers ability to create a magnetic dipole</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Am^2</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0.1 to 10</a:t>
                      </a:r>
                    </a:p>
                  </a:txBody>
                  <a:tcPr anchor="ctr"/>
                </a:tc>
                <a:tc>
                  <a:txBody>
                    <a:bodyPr/>
                    <a:lstStyle/>
                    <a:p>
                      <a:pPr algn="ctr"/>
                      <a:r>
                        <a:rPr lang="en-US" sz="1200"/>
                        <a:t>Spherical Bearing</a:t>
                      </a:r>
                    </a:p>
                  </a:txBody>
                  <a:tcPr anchor="ctr"/>
                </a:tc>
                <a:extLst>
                  <a:ext uri="{0D108BD9-81ED-4DB2-BD59-A6C34878D82A}">
                    <a16:rowId xmlns:a16="http://schemas.microsoft.com/office/drawing/2014/main" val="2081533146"/>
                  </a:ext>
                </a:extLst>
              </a:tr>
              <a:tr h="453692">
                <a:tc>
                  <a:txBody>
                    <a:bodyPr/>
                    <a:lstStyle/>
                    <a:p>
                      <a:pPr algn="ctr"/>
                      <a:r>
                        <a:rPr lang="en-US" sz="1200" b="1"/>
                        <a:t>7</a:t>
                      </a:r>
                    </a:p>
                  </a:txBody>
                  <a:tcPr anchor="ctr"/>
                </a:tc>
                <a:tc>
                  <a:txBody>
                    <a:bodyPr/>
                    <a:lstStyle/>
                    <a:p>
                      <a:pPr lvl="0" algn="ctr">
                        <a:buNone/>
                      </a:pPr>
                      <a:r>
                        <a:rPr lang="en-US" sz="1200" b="0" i="0" u="none" strike="noStrike" noProof="0">
                          <a:latin typeface="Trebuchet MS"/>
                        </a:rPr>
                        <a:t>FOV</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Star Tracker camera</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deg</a:t>
                      </a: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   40</a:t>
                      </a:r>
                    </a:p>
                  </a:txBody>
                  <a:tcPr anchor="ctr"/>
                </a:tc>
                <a:tc>
                  <a:txBody>
                    <a:bodyPr/>
                    <a:lstStyle/>
                    <a:p>
                      <a:pPr algn="ctr"/>
                      <a:r>
                        <a:rPr lang="en-US" sz="1200"/>
                        <a:t>Ceiling calibration</a:t>
                      </a:r>
                    </a:p>
                  </a:txBody>
                  <a:tcPr anchor="ctr"/>
                </a:tc>
                <a:extLst>
                  <a:ext uri="{0D108BD9-81ED-4DB2-BD59-A6C34878D82A}">
                    <a16:rowId xmlns:a16="http://schemas.microsoft.com/office/drawing/2014/main" val="51179174"/>
                  </a:ext>
                </a:extLst>
              </a:tr>
              <a:tr h="453692">
                <a:tc>
                  <a:txBody>
                    <a:bodyPr/>
                    <a:lstStyle/>
                    <a:p>
                      <a:pPr algn="ctr"/>
                      <a:r>
                        <a:rPr lang="en-US" sz="1200" b="1"/>
                        <a:t>8</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Weight</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Total Contingency Weight</a:t>
                      </a:r>
                    </a:p>
                  </a:txBody>
                  <a:tcPr anchor="ctr"/>
                </a:tc>
                <a:tc>
                  <a:txBody>
                    <a:bodyPr/>
                    <a:lstStyle/>
                    <a:p>
                      <a:pPr algn="ctr"/>
                      <a:r>
                        <a:rPr lang="en-US" sz="1200"/>
                        <a:t>g</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752.64</a:t>
                      </a:r>
                    </a:p>
                  </a:txBody>
                  <a:tcPr anchor="ctr"/>
                </a:tc>
                <a:tc>
                  <a:txBody>
                    <a:bodyPr/>
                    <a:lstStyle/>
                    <a:p>
                      <a:pPr algn="ctr"/>
                      <a:r>
                        <a:rPr lang="en-US" sz="1200" dirty="0"/>
                        <a:t>Scale</a:t>
                      </a:r>
                    </a:p>
                  </a:txBody>
                  <a:tcPr anchor="ctr"/>
                </a:tc>
                <a:extLst>
                  <a:ext uri="{0D108BD9-81ED-4DB2-BD59-A6C34878D82A}">
                    <a16:rowId xmlns:a16="http://schemas.microsoft.com/office/drawing/2014/main" val="599671036"/>
                  </a:ext>
                </a:extLst>
              </a:tr>
            </a:tbl>
          </a:graphicData>
        </a:graphic>
      </p:graphicFrame>
    </p:spTree>
    <p:extLst>
      <p:ext uri="{BB962C8B-B14F-4D97-AF65-F5344CB8AC3E}">
        <p14:creationId xmlns:p14="http://schemas.microsoft.com/office/powerpoint/2010/main" val="32387838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529960-7A08-5E1B-30AD-4A8D7367C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6F2987-9245-33E3-F84E-7E5776E9A765}"/>
              </a:ext>
            </a:extLst>
          </p:cNvPr>
          <p:cNvSpPr>
            <a:spLocks noGrp="1"/>
          </p:cNvSpPr>
          <p:nvPr>
            <p:ph type="title"/>
          </p:nvPr>
        </p:nvSpPr>
        <p:spPr/>
        <p:txBody>
          <a:bodyPr/>
          <a:lstStyle/>
          <a:p>
            <a:r>
              <a:rPr lang="en-US"/>
              <a:t>Metrics Tests</a:t>
            </a:r>
          </a:p>
        </p:txBody>
      </p:sp>
      <p:graphicFrame>
        <p:nvGraphicFramePr>
          <p:cNvPr id="5" name="Table 4">
            <a:extLst>
              <a:ext uri="{FF2B5EF4-FFF2-40B4-BE49-F238E27FC236}">
                <a16:creationId xmlns:a16="http://schemas.microsoft.com/office/drawing/2014/main" id="{A6032CFD-473C-277C-74B6-378C5AC83D60}"/>
              </a:ext>
            </a:extLst>
          </p:cNvPr>
          <p:cNvGraphicFramePr>
            <a:graphicFrameLocks noGrp="1"/>
          </p:cNvGraphicFramePr>
          <p:nvPr>
            <p:extLst>
              <p:ext uri="{D42A27DB-BD31-4B8C-83A1-F6EECF244321}">
                <p14:modId xmlns:p14="http://schemas.microsoft.com/office/powerpoint/2010/main" val="4170575900"/>
              </p:ext>
            </p:extLst>
          </p:nvPr>
        </p:nvGraphicFramePr>
        <p:xfrm>
          <a:off x="677334" y="1435734"/>
          <a:ext cx="11118425" cy="2873194"/>
        </p:xfrm>
        <a:graphic>
          <a:graphicData uri="http://schemas.openxmlformats.org/drawingml/2006/table">
            <a:tbl>
              <a:tblPr firstRow="1" bandRow="1">
                <a:tableStyleId>{5C22544A-7EE6-4342-B048-85BDC9FD1C3A}</a:tableStyleId>
              </a:tblPr>
              <a:tblGrid>
                <a:gridCol w="531706">
                  <a:extLst>
                    <a:ext uri="{9D8B030D-6E8A-4147-A177-3AD203B41FA5}">
                      <a16:colId xmlns:a16="http://schemas.microsoft.com/office/drawing/2014/main" val="3379832835"/>
                    </a:ext>
                  </a:extLst>
                </a:gridCol>
                <a:gridCol w="1991360">
                  <a:extLst>
                    <a:ext uri="{9D8B030D-6E8A-4147-A177-3AD203B41FA5}">
                      <a16:colId xmlns:a16="http://schemas.microsoft.com/office/drawing/2014/main" val="1031752385"/>
                    </a:ext>
                  </a:extLst>
                </a:gridCol>
                <a:gridCol w="3078480">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80">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r>
                        <a:rPr lang="en-US" sz="1200" b="1" dirty="0"/>
                        <a:t>9</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Rotating Accuracy</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How accurately the CubeSat is able to rotate</a:t>
                      </a:r>
                    </a:p>
                  </a:txBody>
                  <a:tcPr anchor="ctr"/>
                </a:tc>
                <a:tc>
                  <a:txBody>
                    <a:bodyPr/>
                    <a:lstStyle/>
                    <a:p>
                      <a:pPr lvl="0" algn="ctr">
                        <a:lnSpc>
                          <a:spcPct val="100000"/>
                        </a:lnSpc>
                        <a:spcBef>
                          <a:spcPts val="0"/>
                        </a:spcBef>
                        <a:spcAft>
                          <a:spcPts val="0"/>
                        </a:spcAft>
                        <a:buNone/>
                      </a:pPr>
                      <a:r>
                        <a:rPr lang="en-US" sz="1200" b="0" i="0" u="none" strike="noStrike" noProof="0" dirty="0" err="1">
                          <a:latin typeface="Trebuchet MS"/>
                        </a:rPr>
                        <a:t>mrad</a:t>
                      </a:r>
                      <a:endParaRPr lang="en-US" sz="1200" b="0" i="0" u="none" strike="noStrike" noProof="0" dirty="0">
                        <a:latin typeface="Trebuchet MS"/>
                      </a:endParaRPr>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0.1 to 1</a:t>
                      </a:r>
                    </a:p>
                  </a:txBody>
                  <a:tcPr anchor="ctr"/>
                </a:tc>
                <a:tc>
                  <a:txBody>
                    <a:bodyPr/>
                    <a:lstStyle/>
                    <a:p>
                      <a:pPr algn="ctr"/>
                      <a:r>
                        <a:rPr lang="en-US" sz="1200"/>
                        <a:t>Spherical Bearing</a:t>
                      </a:r>
                    </a:p>
                  </a:txBody>
                  <a:tcPr anchor="ctr"/>
                </a:tc>
                <a:extLst>
                  <a:ext uri="{0D108BD9-81ED-4DB2-BD59-A6C34878D82A}">
                    <a16:rowId xmlns:a16="http://schemas.microsoft.com/office/drawing/2014/main" val="1280095861"/>
                  </a:ext>
                </a:extLst>
              </a:tr>
              <a:tr h="453692">
                <a:tc>
                  <a:txBody>
                    <a:bodyPr/>
                    <a:lstStyle/>
                    <a:p>
                      <a:pPr algn="ctr"/>
                      <a:r>
                        <a:rPr lang="en-US" sz="1200" b="1" dirty="0"/>
                        <a:t>10</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Power Consumption</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How power is required for the entire subsystem</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Watts</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&lt;13</a:t>
                      </a:r>
                    </a:p>
                  </a:txBody>
                  <a:tcPr anchor="ctr"/>
                </a:tc>
                <a:tc>
                  <a:txBody>
                    <a:bodyPr/>
                    <a:lstStyle/>
                    <a:p>
                      <a:pPr algn="ctr"/>
                      <a:r>
                        <a:rPr lang="en-US" sz="1200"/>
                        <a:t>Spin-up motors</a:t>
                      </a:r>
                    </a:p>
                  </a:txBody>
                  <a:tcPr anchor="ctr"/>
                </a:tc>
                <a:extLst>
                  <a:ext uri="{0D108BD9-81ED-4DB2-BD59-A6C34878D82A}">
                    <a16:rowId xmlns:a16="http://schemas.microsoft.com/office/drawing/2014/main" val="3532025305"/>
                  </a:ext>
                </a:extLst>
              </a:tr>
              <a:tr h="453692">
                <a:tc>
                  <a:txBody>
                    <a:bodyPr/>
                    <a:lstStyle/>
                    <a:p>
                      <a:pPr algn="ctr"/>
                      <a:r>
                        <a:rPr lang="en-US" sz="1200" b="1" dirty="0"/>
                        <a:t>11</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Operational Temp Range*</a:t>
                      </a:r>
                    </a:p>
                    <a:p>
                      <a:pPr lvl="0" algn="ctr">
                        <a:lnSpc>
                          <a:spcPct val="100000"/>
                        </a:lnSpc>
                        <a:spcBef>
                          <a:spcPts val="0"/>
                        </a:spcBef>
                        <a:spcAft>
                          <a:spcPts val="0"/>
                        </a:spcAft>
                        <a:buNone/>
                      </a:pPr>
                      <a:r>
                        <a:rPr lang="en-US" sz="1200" b="0" i="0" u="none" strike="noStrike" noProof="0">
                          <a:latin typeface="Trebuchet MS"/>
                        </a:rPr>
                        <a:t>(Will be done by Thermal)</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Temperature range for the components to operate in</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C</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-40 to 85</a:t>
                      </a:r>
                    </a:p>
                  </a:txBody>
                  <a:tcPr anchor="ctr"/>
                </a:tc>
                <a:tc>
                  <a:txBody>
                    <a:bodyPr/>
                    <a:lstStyle/>
                    <a:p>
                      <a:pPr algn="ctr"/>
                      <a:r>
                        <a:rPr lang="en-US" sz="1200"/>
                        <a:t>Bakeout</a:t>
                      </a:r>
                    </a:p>
                  </a:txBody>
                  <a:tcPr anchor="ctr"/>
                </a:tc>
                <a:extLst>
                  <a:ext uri="{0D108BD9-81ED-4DB2-BD59-A6C34878D82A}">
                    <a16:rowId xmlns:a16="http://schemas.microsoft.com/office/drawing/2014/main" val="3277508314"/>
                  </a:ext>
                </a:extLst>
              </a:tr>
              <a:tr h="453692">
                <a:tc>
                  <a:txBody>
                    <a:bodyPr/>
                    <a:lstStyle/>
                    <a:p>
                      <a:pPr algn="ctr"/>
                      <a:r>
                        <a:rPr lang="en-US" sz="1200" b="1" dirty="0"/>
                        <a:t>12</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Budget</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Budget for the Control Subsystem</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&lt;1500</a:t>
                      </a:r>
                    </a:p>
                  </a:txBody>
                  <a:tcPr anchor="ctr"/>
                </a:tc>
                <a:tc>
                  <a:txBody>
                    <a:bodyPr/>
                    <a:lstStyle/>
                    <a:p>
                      <a:pPr algn="ctr"/>
                      <a:r>
                        <a:rPr lang="en-US" sz="1200"/>
                        <a:t>Spend Wisely</a:t>
                      </a:r>
                    </a:p>
                  </a:txBody>
                  <a:tcPr anchor="ctr"/>
                </a:tc>
                <a:extLst>
                  <a:ext uri="{0D108BD9-81ED-4DB2-BD59-A6C34878D82A}">
                    <a16:rowId xmlns:a16="http://schemas.microsoft.com/office/drawing/2014/main" val="1579338450"/>
                  </a:ext>
                </a:extLst>
              </a:tr>
              <a:tr h="453692">
                <a:tc>
                  <a:txBody>
                    <a:bodyPr/>
                    <a:lstStyle/>
                    <a:p>
                      <a:pPr algn="ctr"/>
                      <a:r>
                        <a:rPr lang="en-US" sz="1200" b="1" dirty="0"/>
                        <a:t>13</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Angular Velocity (Rotating)</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How fast CubeSat will need to move to complete rotation to take picture</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rad/s</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0.01 to 0.1</a:t>
                      </a:r>
                    </a:p>
                  </a:txBody>
                  <a:tcPr anchor="ctr"/>
                </a:tc>
                <a:tc>
                  <a:txBody>
                    <a:bodyPr/>
                    <a:lstStyle/>
                    <a:p>
                      <a:pPr algn="ctr"/>
                      <a:r>
                        <a:rPr lang="en-US" sz="1200" dirty="0"/>
                        <a:t>Spherical Bearing</a:t>
                      </a:r>
                    </a:p>
                  </a:txBody>
                  <a:tcPr anchor="ctr"/>
                </a:tc>
                <a:extLst>
                  <a:ext uri="{0D108BD9-81ED-4DB2-BD59-A6C34878D82A}">
                    <a16:rowId xmlns:a16="http://schemas.microsoft.com/office/drawing/2014/main" val="2081533146"/>
                  </a:ext>
                </a:extLst>
              </a:tr>
            </a:tbl>
          </a:graphicData>
        </a:graphic>
      </p:graphicFrame>
    </p:spTree>
    <p:extLst>
      <p:ext uri="{BB962C8B-B14F-4D97-AF65-F5344CB8AC3E}">
        <p14:creationId xmlns:p14="http://schemas.microsoft.com/office/powerpoint/2010/main" val="26386595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1EF443-552D-5617-2ACA-04BE59F3F3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E1D4AD7-BBD6-500C-8262-BA83F4D0DB27}"/>
              </a:ext>
            </a:extLst>
          </p:cNvPr>
          <p:cNvSpPr>
            <a:spLocks noGrp="1"/>
          </p:cNvSpPr>
          <p:nvPr>
            <p:ph type="title"/>
          </p:nvPr>
        </p:nvSpPr>
        <p:spPr/>
        <p:txBody>
          <a:bodyPr>
            <a:normAutofit fontScale="90000"/>
          </a:bodyPr>
          <a:lstStyle/>
          <a:p>
            <a:r>
              <a:rPr lang="en-US" dirty="0"/>
              <a:t>Prototype Completion Check *pictures will include reaction wheel setup and mounted to a 3U prototype</a:t>
            </a:r>
          </a:p>
        </p:txBody>
      </p:sp>
      <p:pic>
        <p:nvPicPr>
          <p:cNvPr id="4" name="Picture 3" descr="A black and blue machine on a wooden table&#10;&#10;AI-generated content may be incorrect.">
            <a:extLst>
              <a:ext uri="{FF2B5EF4-FFF2-40B4-BE49-F238E27FC236}">
                <a16:creationId xmlns:a16="http://schemas.microsoft.com/office/drawing/2014/main" id="{F38DA460-1CC4-BA2D-89C6-F9D845C023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320556" y="2933133"/>
            <a:ext cx="4109352" cy="3082014"/>
          </a:xfrm>
          <a:prstGeom prst="rect">
            <a:avLst/>
          </a:prstGeom>
        </p:spPr>
      </p:pic>
      <p:pic>
        <p:nvPicPr>
          <p:cNvPr id="10" name="Picture 9" descr="A blue object on a table&#10;&#10;AI-generated content may be incorrect.">
            <a:extLst>
              <a:ext uri="{FF2B5EF4-FFF2-40B4-BE49-F238E27FC236}">
                <a16:creationId xmlns:a16="http://schemas.microsoft.com/office/drawing/2014/main" id="{A9D6EC85-FE7F-8B82-FB69-27BC9E958BD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5140171" y="2933132"/>
            <a:ext cx="4109353" cy="3082015"/>
          </a:xfrm>
          <a:prstGeom prst="rect">
            <a:avLst/>
          </a:prstGeom>
        </p:spPr>
      </p:pic>
    </p:spTree>
    <p:extLst>
      <p:ext uri="{BB962C8B-B14F-4D97-AF65-F5344CB8AC3E}">
        <p14:creationId xmlns:p14="http://schemas.microsoft.com/office/powerpoint/2010/main" val="1883714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D17590-B6C3-0252-40DC-669BDB97E40B}"/>
            </a:ext>
          </a:extLst>
        </p:cNvPr>
        <p:cNvGrpSpPr/>
        <p:nvPr/>
      </p:nvGrpSpPr>
      <p:grpSpPr>
        <a:xfrm>
          <a:off x="0" y="0"/>
          <a:ext cx="0" cy="0"/>
          <a:chOff x="0" y="0"/>
          <a:chExt cx="0" cy="0"/>
        </a:xfrm>
      </p:grpSpPr>
      <p:pic>
        <p:nvPicPr>
          <p:cNvPr id="4" name="Picture 3" descr="A blue bowl with a metal ladder inside&#10;&#10;AI-generated content may be incorrect.">
            <a:extLst>
              <a:ext uri="{FF2B5EF4-FFF2-40B4-BE49-F238E27FC236}">
                <a16:creationId xmlns:a16="http://schemas.microsoft.com/office/drawing/2014/main" id="{458070EB-BE4D-22A3-A1D6-786FDFB666D1}"/>
              </a:ext>
            </a:extLst>
          </p:cNvPr>
          <p:cNvPicPr>
            <a:picLocks noChangeAspect="1"/>
          </p:cNvPicPr>
          <p:nvPr/>
        </p:nvPicPr>
        <p:blipFill>
          <a:blip r:embed="rId3"/>
          <a:stretch>
            <a:fillRect/>
          </a:stretch>
        </p:blipFill>
        <p:spPr>
          <a:xfrm>
            <a:off x="9502408" y="3425089"/>
            <a:ext cx="2689592" cy="3432911"/>
          </a:xfrm>
          <a:prstGeom prst="rect">
            <a:avLst/>
          </a:prstGeom>
        </p:spPr>
      </p:pic>
      <p:sp>
        <p:nvSpPr>
          <p:cNvPr id="2" name="Title 1">
            <a:extLst>
              <a:ext uri="{FF2B5EF4-FFF2-40B4-BE49-F238E27FC236}">
                <a16:creationId xmlns:a16="http://schemas.microsoft.com/office/drawing/2014/main" id="{94B509EF-6AB8-89DD-7711-1AACCB9836C0}"/>
              </a:ext>
            </a:extLst>
          </p:cNvPr>
          <p:cNvSpPr>
            <a:spLocks noGrp="1"/>
          </p:cNvSpPr>
          <p:nvPr>
            <p:ph type="title"/>
          </p:nvPr>
        </p:nvSpPr>
        <p:spPr/>
        <p:txBody>
          <a:bodyPr/>
          <a:lstStyle/>
          <a:p>
            <a:r>
              <a:rPr lang="en-US" dirty="0"/>
              <a:t>Jigs &amp; Fixtures – Spherical air bearing</a:t>
            </a:r>
          </a:p>
        </p:txBody>
      </p:sp>
      <p:sp>
        <p:nvSpPr>
          <p:cNvPr id="3" name="Content Placeholder 2">
            <a:extLst>
              <a:ext uri="{FF2B5EF4-FFF2-40B4-BE49-F238E27FC236}">
                <a16:creationId xmlns:a16="http://schemas.microsoft.com/office/drawing/2014/main" id="{3FC50B3F-BA43-A28F-2A9F-7534601F6A86}"/>
              </a:ext>
            </a:extLst>
          </p:cNvPr>
          <p:cNvSpPr>
            <a:spLocks noGrp="1"/>
          </p:cNvSpPr>
          <p:nvPr>
            <p:ph idx="1"/>
          </p:nvPr>
        </p:nvSpPr>
        <p:spPr>
          <a:xfrm>
            <a:off x="677334" y="1638300"/>
            <a:ext cx="8596668" cy="4940299"/>
          </a:xfrm>
        </p:spPr>
        <p:txBody>
          <a:bodyPr vert="horz" lIns="91440" tIns="45720" rIns="91440" bIns="45720" rtlCol="0" anchor="t">
            <a:normAutofit/>
          </a:bodyPr>
          <a:lstStyle/>
          <a:p>
            <a:pPr marL="0" indent="0">
              <a:buNone/>
            </a:pPr>
            <a:r>
              <a:rPr lang="en-US" dirty="0"/>
              <a:t>Why do we need this test fixture?</a:t>
            </a:r>
          </a:p>
          <a:p>
            <a:r>
              <a:rPr lang="en-US" dirty="0"/>
              <a:t>Spherical air bearings are used in CubeSat control subsystem testing to simulate frictionless motion in attitude control experiments. These bearings allow CubeSats or other spacecraft models to rotate freely in multiple axes with minimal resistance, closely approximating the microgravity and near-frictionless conditions of space.</a:t>
            </a:r>
          </a:p>
          <a:p>
            <a:r>
              <a:rPr lang="en-US" dirty="0"/>
              <a:t>The spherical air bearing will help us test out the simulation code that Ben has been writing for the past couple of months.</a:t>
            </a:r>
          </a:p>
          <a:p>
            <a:pPr marL="285750" indent="-285750"/>
            <a:r>
              <a:rPr lang="en-US" dirty="0"/>
              <a:t>Most of our testing is going to take place in this fixture.</a:t>
            </a:r>
          </a:p>
          <a:p>
            <a:pPr marL="285750" indent="-285750"/>
            <a:r>
              <a:rPr lang="en-US" dirty="0"/>
              <a:t>We are going to test 1-2 metrics for each test that we run.</a:t>
            </a:r>
          </a:p>
          <a:p>
            <a:pPr marL="685800" lvl="1"/>
            <a:r>
              <a:rPr lang="en-US" dirty="0"/>
              <a:t>This is because we have many metrics that we need to test and</a:t>
            </a:r>
          </a:p>
          <a:p>
            <a:pPr marL="400050" lvl="1" indent="0">
              <a:buNone/>
            </a:pPr>
            <a:r>
              <a:rPr lang="en-US" dirty="0"/>
              <a:t>doing each one individually can waste a lot of time and we are</a:t>
            </a:r>
          </a:p>
          <a:p>
            <a:pPr marL="400050" lvl="1" indent="0">
              <a:buNone/>
            </a:pPr>
            <a:r>
              <a:rPr lang="en-US" dirty="0"/>
              <a:t>starting to run out of time.</a:t>
            </a:r>
          </a:p>
          <a:p>
            <a:pPr marL="0" indent="0">
              <a:buNone/>
            </a:pPr>
            <a:endParaRPr lang="en-US" dirty="0"/>
          </a:p>
        </p:txBody>
      </p:sp>
      <p:pic>
        <p:nvPicPr>
          <p:cNvPr id="8" name="Picture 7" descr="A white and blue lamp on a wood floor&#10;&#10;AI-generated content may be incorrect.">
            <a:extLst>
              <a:ext uri="{FF2B5EF4-FFF2-40B4-BE49-F238E27FC236}">
                <a16:creationId xmlns:a16="http://schemas.microsoft.com/office/drawing/2014/main" id="{BCEB75C3-3FF4-E676-07B3-A7052FFE377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8978966" y="459004"/>
            <a:ext cx="3672038" cy="2754029"/>
          </a:xfrm>
          <a:prstGeom prst="rect">
            <a:avLst/>
          </a:prstGeom>
        </p:spPr>
      </p:pic>
    </p:spTree>
    <p:extLst>
      <p:ext uri="{BB962C8B-B14F-4D97-AF65-F5344CB8AC3E}">
        <p14:creationId xmlns:p14="http://schemas.microsoft.com/office/powerpoint/2010/main" val="147302126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7C2862-CFBB-C0DE-7A76-6019A245454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689319-99EE-7A53-1CC8-95E612F2D08F}"/>
              </a:ext>
            </a:extLst>
          </p:cNvPr>
          <p:cNvSpPr>
            <a:spLocks noGrp="1"/>
          </p:cNvSpPr>
          <p:nvPr>
            <p:ph type="title"/>
          </p:nvPr>
        </p:nvSpPr>
        <p:spPr/>
        <p:txBody>
          <a:bodyPr/>
          <a:lstStyle/>
          <a:p>
            <a:r>
              <a:rPr lang="en-US" dirty="0"/>
              <a:t>Detailed Test Plan #1</a:t>
            </a:r>
          </a:p>
        </p:txBody>
      </p:sp>
      <p:sp>
        <p:nvSpPr>
          <p:cNvPr id="3" name="Content Placeholder 2">
            <a:extLst>
              <a:ext uri="{FF2B5EF4-FFF2-40B4-BE49-F238E27FC236}">
                <a16:creationId xmlns:a16="http://schemas.microsoft.com/office/drawing/2014/main" id="{069A0252-8E69-022B-E7AF-8DCD79236D32}"/>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Place CubeSat on spherical air bearing</a:t>
            </a:r>
          </a:p>
          <a:p>
            <a:pPr>
              <a:buAutoNum type="arabicParenR"/>
            </a:pPr>
            <a:r>
              <a:rPr lang="en-US"/>
              <a:t>Run program and determine accuracy using a laser pointer.</a:t>
            </a:r>
          </a:p>
          <a:p>
            <a:pPr>
              <a:buAutoNum type="arabicParenR"/>
            </a:pPr>
            <a:r>
              <a:rPr lang="en-US"/>
              <a:t>We will have it point a different objects and see how accurate we can get it down to.</a:t>
            </a:r>
          </a:p>
          <a:p>
            <a:pPr>
              <a:buFont typeface="Trebuchet MS" panose="020B0603020202020204"/>
              <a:buAutoNum type="arabicParenR"/>
            </a:pPr>
            <a:endParaRPr lang="en-US"/>
          </a:p>
          <a:p>
            <a:pPr marL="0" indent="0">
              <a:buNone/>
            </a:pPr>
            <a:r>
              <a:rPr lang="en-US"/>
              <a:t>Statistical Significance:</a:t>
            </a:r>
          </a:p>
          <a:p>
            <a:pPr>
              <a:buFont typeface="Wingdings" panose="05000000000000000000" pitchFamily="2" charset="2"/>
              <a:buChar char="§"/>
            </a:pPr>
            <a:r>
              <a:rPr lang="en-US"/>
              <a:t>CubeSat must be able to point accurately to take good imagery.</a:t>
            </a:r>
          </a:p>
        </p:txBody>
      </p:sp>
      <p:graphicFrame>
        <p:nvGraphicFramePr>
          <p:cNvPr id="4" name="Table 3">
            <a:extLst>
              <a:ext uri="{FF2B5EF4-FFF2-40B4-BE49-F238E27FC236}">
                <a16:creationId xmlns:a16="http://schemas.microsoft.com/office/drawing/2014/main" id="{CD2E8BD3-0BB9-CA3E-5A85-2A4D085FEF02}"/>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141B389E-4D2F-AC8B-9FF8-15AAEAAAF56C}"/>
              </a:ext>
            </a:extLst>
          </p:cNvPr>
          <p:cNvGraphicFramePr>
            <a:graphicFrameLocks noGrp="1"/>
          </p:cNvGraphicFramePr>
          <p:nvPr>
            <p:extLst>
              <p:ext uri="{D42A27DB-BD31-4B8C-83A1-F6EECF244321}">
                <p14:modId xmlns:p14="http://schemas.microsoft.com/office/powerpoint/2010/main" val="1907234786"/>
              </p:ext>
            </p:extLst>
          </p:nvPr>
        </p:nvGraphicFramePr>
        <p:xfrm>
          <a:off x="8483600" y="2480128"/>
          <a:ext cx="3312159" cy="4322167"/>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33295">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789100">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Since we are using a spherical bearing fixture to test, we have limitations on where we can point it 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21823">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10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3741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33295">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613744">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Pressure valves, tubing, connectors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33295">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Yes, using spherical bearing fixture and entire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5AECD5CF-4156-3BD1-B2C1-5279A9F1F1BC}"/>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00EEB5A6-4D9F-0F1B-6DC2-6D27B6D4A44D}"/>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DC424FEB-1EC9-E7CC-2388-D722A19E0184}"/>
              </a:ext>
            </a:extLst>
          </p:cNvPr>
          <p:cNvGraphicFramePr>
            <a:graphicFrameLocks noGrp="1"/>
          </p:cNvGraphicFramePr>
          <p:nvPr>
            <p:extLst>
              <p:ext uri="{D42A27DB-BD31-4B8C-83A1-F6EECF244321}">
                <p14:modId xmlns:p14="http://schemas.microsoft.com/office/powerpoint/2010/main" val="3322255176"/>
              </p:ext>
            </p:extLst>
          </p:nvPr>
        </p:nvGraphicFramePr>
        <p:xfrm>
          <a:off x="678863" y="2027698"/>
          <a:ext cx="11118410" cy="457200"/>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dirty="0"/>
                        <a:t>1</a:t>
                      </a:r>
                      <a:endParaRPr lang="en-US" dirty="0"/>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Pointing Accuracy</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How accurately the attitude and control can be </a:t>
                      </a:r>
                      <a:r>
                        <a:rPr lang="en-US" sz="1200" b="0" i="0" u="none" strike="noStrike" noProof="0" err="1">
                          <a:latin typeface="Trebuchet MS"/>
                        </a:rPr>
                        <a:t>maintainted</a:t>
                      </a:r>
                      <a:r>
                        <a:rPr lang="en-US" sz="1200" b="0" i="0" u="none" strike="noStrike" noProof="0">
                          <a:latin typeface="Trebuchet MS"/>
                        </a:rPr>
                        <a:t> in a desired direction</a:t>
                      </a:r>
                      <a:endParaRPr lang="en-US"/>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rad</a:t>
                      </a:r>
                    </a:p>
                  </a:txBody>
                  <a:tcPr anchor="ctr"/>
                </a:tc>
                <a:tc>
                  <a:txBody>
                    <a:bodyPr/>
                    <a:lstStyle/>
                    <a:p>
                      <a:pPr lvl="0" algn="ctr">
                        <a:lnSpc>
                          <a:spcPct val="100000"/>
                        </a:lnSpc>
                        <a:spcBef>
                          <a:spcPts val="0"/>
                        </a:spcBef>
                        <a:spcAft>
                          <a:spcPts val="0"/>
                        </a:spcAft>
                        <a:buNone/>
                      </a:pPr>
                      <a:r>
                        <a:rPr lang="en-US" sz="1200" b="0" i="0" u="none" strike="noStrike" noProof="0" dirty="0">
                          <a:latin typeface="+mn-lt"/>
                        </a:rPr>
                        <a:t>0.00174533</a:t>
                      </a:r>
                      <a:r>
                        <a:rPr lang="en-US" sz="1200" b="0" i="0" u="none" strike="noStrike" noProof="0" dirty="0">
                          <a:latin typeface="Trebuchet MS"/>
                        </a:rPr>
                        <a:t> to </a:t>
                      </a:r>
                      <a:r>
                        <a:rPr lang="en-US" sz="1200" b="0" i="0" u="none" strike="noStrike" noProof="0" dirty="0">
                          <a:latin typeface="+mn-lt"/>
                        </a:rPr>
                        <a:t>0.0174533</a:t>
                      </a:r>
                      <a:endParaRPr lang="en-US" sz="1200" b="0" i="0" u="none" strike="noStrike" noProof="0" dirty="0">
                        <a:latin typeface="Trebuchet MS"/>
                      </a:endParaRPr>
                    </a:p>
                  </a:txBody>
                  <a:tcPr anchor="ctr"/>
                </a:tc>
                <a:tc>
                  <a:txBody>
                    <a:bodyPr/>
                    <a:lstStyle/>
                    <a:p>
                      <a:pPr lvl="0" algn="ctr">
                        <a:buNone/>
                      </a:pPr>
                      <a:r>
                        <a:rPr lang="en-US" sz="1200" dirty="0"/>
                        <a:t>Spherical Bearing</a:t>
                      </a:r>
                      <a:endParaRPr lang="en-US" dirty="0"/>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199270720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05A107-BD4C-D79B-22C1-D1616367B2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CDA7BB-F191-6F8B-EC9C-0C8DC682C6AA}"/>
              </a:ext>
            </a:extLst>
          </p:cNvPr>
          <p:cNvSpPr>
            <a:spLocks noGrp="1"/>
          </p:cNvSpPr>
          <p:nvPr>
            <p:ph type="title"/>
          </p:nvPr>
        </p:nvSpPr>
        <p:spPr/>
        <p:txBody>
          <a:bodyPr/>
          <a:lstStyle/>
          <a:p>
            <a:r>
              <a:rPr lang="en-US"/>
              <a:t>Detailed Test Plan #2 </a:t>
            </a:r>
          </a:p>
        </p:txBody>
      </p:sp>
      <p:sp>
        <p:nvSpPr>
          <p:cNvPr id="3" name="Content Placeholder 2">
            <a:extLst>
              <a:ext uri="{FF2B5EF4-FFF2-40B4-BE49-F238E27FC236}">
                <a16:creationId xmlns:a16="http://schemas.microsoft.com/office/drawing/2014/main" id="{3FCCFB91-AB35-8A59-EFB0-B8E59109F096}"/>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Place on spherical air bearing</a:t>
            </a:r>
          </a:p>
          <a:p>
            <a:pPr>
              <a:buAutoNum type="arabicParenR"/>
            </a:pPr>
            <a:r>
              <a:rPr lang="en-US"/>
              <a:t>Fire up control systems and simulate in-flight maneuvering.</a:t>
            </a:r>
          </a:p>
          <a:p>
            <a:pPr marL="0" indent="0">
              <a:buNone/>
            </a:pPr>
            <a:endParaRPr lang="en-US"/>
          </a:p>
          <a:p>
            <a:pPr marL="0" indent="0">
              <a:buNone/>
            </a:pPr>
            <a:r>
              <a:rPr lang="en-US"/>
              <a:t>Statistical Significance:</a:t>
            </a:r>
          </a:p>
          <a:p>
            <a:pPr>
              <a:buFont typeface="Wingdings" panose="05000000000000000000" pitchFamily="2" charset="2"/>
              <a:buChar char="§"/>
            </a:pPr>
            <a:r>
              <a:rPr lang="en-US"/>
              <a:t>We will need to be capable of tracking ground targets so that the image doesn't blur (camera has a 12 </a:t>
            </a:r>
            <a:r>
              <a:rPr lang="en-US" err="1"/>
              <a:t>ms</a:t>
            </a:r>
            <a:r>
              <a:rPr lang="en-US"/>
              <a:t> exposure time).</a:t>
            </a:r>
          </a:p>
        </p:txBody>
      </p:sp>
      <p:graphicFrame>
        <p:nvGraphicFramePr>
          <p:cNvPr id="4" name="Table 3">
            <a:extLst>
              <a:ext uri="{FF2B5EF4-FFF2-40B4-BE49-F238E27FC236}">
                <a16:creationId xmlns:a16="http://schemas.microsoft.com/office/drawing/2014/main" id="{0F528115-D01D-2F83-A9E0-36C793CD5313}"/>
              </a:ext>
            </a:extLst>
          </p:cNvPr>
          <p:cNvGraphicFramePr>
            <a:graphicFrameLocks noGrp="1"/>
          </p:cNvGraphicFramePr>
          <p:nvPr>
            <p:extLst>
              <p:ext uri="{D42A27DB-BD31-4B8C-83A1-F6EECF244321}">
                <p14:modId xmlns:p14="http://schemas.microsoft.com/office/powerpoint/2010/main" val="3881184229"/>
              </p:ext>
            </p:extLst>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2FBAC498-F17E-0701-0F99-7C15834E8737}"/>
              </a:ext>
            </a:extLst>
          </p:cNvPr>
          <p:cNvGraphicFramePr>
            <a:graphicFrameLocks noGrp="1"/>
          </p:cNvGraphicFramePr>
          <p:nvPr>
            <p:extLst>
              <p:ext uri="{D42A27DB-BD31-4B8C-83A1-F6EECF244321}">
                <p14:modId xmlns:p14="http://schemas.microsoft.com/office/powerpoint/2010/main" val="3814779585"/>
              </p:ext>
            </p:extLst>
          </p:nvPr>
        </p:nvGraphicFramePr>
        <p:xfrm>
          <a:off x="8483600" y="2480128"/>
          <a:ext cx="3312159" cy="4182371"/>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Maybe on how far we can rotate the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10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2-3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Pressure valves, tubing, connectors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Yes, using spherical bearing fixture and entire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E0DEACF8-5791-11B2-A83C-CB388AD87879}"/>
              </a:ext>
            </a:extLst>
          </p:cNvPr>
          <p:cNvGraphicFramePr>
            <a:graphicFrameLocks noGrp="1"/>
          </p:cNvGraphicFramePr>
          <p:nvPr>
            <p:extLst>
              <p:ext uri="{D42A27DB-BD31-4B8C-83A1-F6EECF244321}">
                <p14:modId xmlns:p14="http://schemas.microsoft.com/office/powerpoint/2010/main" val="4247200077"/>
              </p:ext>
            </p:extLst>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r>
                        <a:rPr lang="en-US" sz="1200" b="1">
                          <a:effectLst/>
                          <a:latin typeface="Trebuchet MS" panose="020B0603020202020204" pitchFamily="34" charset="0"/>
                        </a:rPr>
                        <a:t>2</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r>
                        <a:rPr lang="en-US" sz="1200">
                          <a:effectLst/>
                          <a:latin typeface="Trebuchet MS" panose="020B0603020202020204" pitchFamily="34" charset="0"/>
                        </a:rPr>
                        <a:t>Rotate to Fix blur</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r>
                        <a:rPr lang="en-US" sz="1200">
                          <a:effectLst/>
                          <a:latin typeface="Trebuchet MS" panose="020B0603020202020204" pitchFamily="34" charset="0"/>
                        </a:rPr>
                        <a:t>The CubeSat will need to rotate while taking a picture to stop the blur</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r>
                        <a:rPr lang="en-US" sz="1200">
                          <a:effectLst/>
                          <a:latin typeface="Trebuchet MS" panose="020B0603020202020204" pitchFamily="34" charset="0"/>
                        </a:rPr>
                        <a:t>rad</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r>
                        <a:rPr lang="en-US" sz="1200">
                          <a:effectLst/>
                          <a:latin typeface="Trebuchet MS" panose="020B0603020202020204" pitchFamily="34" charset="0"/>
                        </a:rPr>
                        <a:t>0.288</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r>
                        <a:rPr lang="en-US" sz="1200">
                          <a:effectLst/>
                          <a:latin typeface="Trebuchet MS" panose="020B0603020202020204" pitchFamily="34" charset="0"/>
                        </a:rPr>
                        <a:t>Spherical Bearing</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spTree>
    <p:extLst>
      <p:ext uri="{BB962C8B-B14F-4D97-AF65-F5344CB8AC3E}">
        <p14:creationId xmlns:p14="http://schemas.microsoft.com/office/powerpoint/2010/main" val="391847601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D4F995-D7A9-2415-58F7-CBAC00049C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495023D-8174-1A6E-A94D-494D554DB0F4}"/>
              </a:ext>
            </a:extLst>
          </p:cNvPr>
          <p:cNvSpPr>
            <a:spLocks noGrp="1"/>
          </p:cNvSpPr>
          <p:nvPr>
            <p:ph type="title"/>
          </p:nvPr>
        </p:nvSpPr>
        <p:spPr/>
        <p:txBody>
          <a:bodyPr/>
          <a:lstStyle/>
          <a:p>
            <a:r>
              <a:rPr lang="en-US"/>
              <a:t>Detailed Test Plan #3 </a:t>
            </a:r>
          </a:p>
        </p:txBody>
      </p:sp>
      <p:sp>
        <p:nvSpPr>
          <p:cNvPr id="3" name="Content Placeholder 2">
            <a:extLst>
              <a:ext uri="{FF2B5EF4-FFF2-40B4-BE49-F238E27FC236}">
                <a16:creationId xmlns:a16="http://schemas.microsoft.com/office/drawing/2014/main" id="{3C707691-FF36-2B62-B5AB-1D94121B56B1}"/>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Place CubeSat under real or simulated sunlight</a:t>
            </a:r>
          </a:p>
          <a:p>
            <a:pPr>
              <a:buAutoNum type="arabicParenR"/>
            </a:pPr>
            <a:r>
              <a:rPr lang="en-US"/>
              <a:t>Determine if CubeSat can determine location of both the Sun and the satellite.</a:t>
            </a:r>
          </a:p>
          <a:p>
            <a:pPr>
              <a:buFont typeface="Trebuchet MS" panose="020B0603020202020204"/>
              <a:buAutoNum type="arabicParenR"/>
            </a:pPr>
            <a:endParaRPr lang="en-US"/>
          </a:p>
          <a:p>
            <a:pPr marL="0" indent="0">
              <a:buNone/>
            </a:pPr>
            <a:r>
              <a:rPr lang="en-US"/>
              <a:t>Statistical Significance:</a:t>
            </a:r>
          </a:p>
          <a:p>
            <a:pPr>
              <a:buFont typeface="Wingdings" panose="05000000000000000000" pitchFamily="2" charset="2"/>
              <a:buChar char="§"/>
            </a:pPr>
            <a:r>
              <a:rPr lang="en-US"/>
              <a:t>CubeSat must be capable of using the sun sensor for navigation.</a:t>
            </a:r>
          </a:p>
        </p:txBody>
      </p:sp>
      <p:graphicFrame>
        <p:nvGraphicFramePr>
          <p:cNvPr id="4" name="Table 3">
            <a:extLst>
              <a:ext uri="{FF2B5EF4-FFF2-40B4-BE49-F238E27FC236}">
                <a16:creationId xmlns:a16="http://schemas.microsoft.com/office/drawing/2014/main" id="{AECDA53C-0CC4-1E15-BA16-1A50B715D22A}"/>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E98B1FF8-4881-BD2D-E722-49E9A439A102}"/>
              </a:ext>
            </a:extLst>
          </p:cNvPr>
          <p:cNvGraphicFramePr>
            <a:graphicFrameLocks noGrp="1"/>
          </p:cNvGraphicFramePr>
          <p:nvPr>
            <p:extLst>
              <p:ext uri="{D42A27DB-BD31-4B8C-83A1-F6EECF244321}">
                <p14:modId xmlns:p14="http://schemas.microsoft.com/office/powerpoint/2010/main" val="2741198422"/>
              </p:ext>
            </p:extLst>
          </p:nvPr>
        </p:nvGraphicFramePr>
        <p:xfrm>
          <a:off x="8483600" y="2480128"/>
          <a:ext cx="3312159" cy="4182371"/>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3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60-90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Sun Sensors, Sun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836C0865-2AA0-CE13-49B0-3C4A01BE6462}"/>
              </a:ext>
            </a:extLst>
          </p:cNvPr>
          <p:cNvGraphicFramePr>
            <a:graphicFrameLocks noGrp="1"/>
          </p:cNvGraphicFramePr>
          <p:nvPr>
            <p:extLst>
              <p:ext uri="{D42A27DB-BD31-4B8C-83A1-F6EECF244321}">
                <p14:modId xmlns:p14="http://schemas.microsoft.com/office/powerpoint/2010/main" val="1366989623"/>
              </p:ext>
            </p:extLst>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6793BDF9-F50C-D64F-7D0A-04B63847CA77}"/>
              </a:ext>
            </a:extLst>
          </p:cNvPr>
          <p:cNvGraphicFramePr>
            <a:graphicFrameLocks noGrp="1"/>
          </p:cNvGraphicFramePr>
          <p:nvPr>
            <p:extLst>
              <p:ext uri="{D42A27DB-BD31-4B8C-83A1-F6EECF244321}">
                <p14:modId xmlns:p14="http://schemas.microsoft.com/office/powerpoint/2010/main" val="3038390395"/>
              </p:ext>
            </p:extLst>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r>
                        <a:rPr lang="en-US" sz="1200" b="1">
                          <a:effectLst/>
                          <a:latin typeface="Trebuchet MS" panose="020B0603020202020204" pitchFamily="34" charset="0"/>
                        </a:rPr>
                        <a:t>3</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Sun Sensor</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Locates the sun and is required to back up star tracker (response time)</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ms</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&lt;10</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Put it in the sun</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spTree>
    <p:extLst>
      <p:ext uri="{BB962C8B-B14F-4D97-AF65-F5344CB8AC3E}">
        <p14:creationId xmlns:p14="http://schemas.microsoft.com/office/powerpoint/2010/main" val="20133696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C11D4A-FB17-CFAC-EB58-500C9B31FE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51E281-6473-2E4C-E159-77366F7B9CD0}"/>
              </a:ext>
            </a:extLst>
          </p:cNvPr>
          <p:cNvSpPr>
            <a:spLocks noGrp="1"/>
          </p:cNvSpPr>
          <p:nvPr>
            <p:ph type="title"/>
          </p:nvPr>
        </p:nvSpPr>
        <p:spPr/>
        <p:txBody>
          <a:bodyPr/>
          <a:lstStyle/>
          <a:p>
            <a:r>
              <a:rPr lang="en-US"/>
              <a:t>Detailed Test Plan #4 </a:t>
            </a:r>
          </a:p>
        </p:txBody>
      </p:sp>
      <p:sp>
        <p:nvSpPr>
          <p:cNvPr id="3" name="Content Placeholder 2">
            <a:extLst>
              <a:ext uri="{FF2B5EF4-FFF2-40B4-BE49-F238E27FC236}">
                <a16:creationId xmlns:a16="http://schemas.microsoft.com/office/drawing/2014/main" id="{21D16402-8D8B-CC49-0874-56892113B238}"/>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Place entire CubeSat on spherical air bearing.</a:t>
            </a:r>
          </a:p>
          <a:p>
            <a:pPr>
              <a:buAutoNum type="arabicParenR"/>
            </a:pPr>
            <a:r>
              <a:rPr lang="en-US"/>
              <a:t>Maneuver CubeSat and see if the IMU can determine CubeSat's rotation.</a:t>
            </a:r>
          </a:p>
          <a:p>
            <a:pPr>
              <a:buFont typeface="Trebuchet MS" panose="020B0603020202020204"/>
              <a:buAutoNum type="arabicParenR"/>
            </a:pPr>
            <a:endParaRPr lang="en-US"/>
          </a:p>
          <a:p>
            <a:pPr marL="0" indent="0">
              <a:buNone/>
            </a:pPr>
            <a:r>
              <a:rPr lang="en-US"/>
              <a:t>Statistical Significance:</a:t>
            </a:r>
          </a:p>
          <a:p>
            <a:pPr>
              <a:buFont typeface="Wingdings" panose="05000000000000000000" pitchFamily="2" charset="2"/>
              <a:buChar char="§"/>
            </a:pPr>
            <a:r>
              <a:rPr lang="en-US"/>
              <a:t>CubeSat must be able to use the IMU in order to greatly increase pointing accuracy and responsiveness.</a:t>
            </a:r>
          </a:p>
        </p:txBody>
      </p:sp>
      <p:graphicFrame>
        <p:nvGraphicFramePr>
          <p:cNvPr id="4" name="Table 3">
            <a:extLst>
              <a:ext uri="{FF2B5EF4-FFF2-40B4-BE49-F238E27FC236}">
                <a16:creationId xmlns:a16="http://schemas.microsoft.com/office/drawing/2014/main" id="{A6593F78-A3EA-D0D3-EFD9-69BDC2CDD714}"/>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40B68D33-6C6C-03ED-1346-4C78E87C2B33}"/>
              </a:ext>
            </a:extLst>
          </p:cNvPr>
          <p:cNvGraphicFramePr>
            <a:graphicFrameLocks noGrp="1"/>
          </p:cNvGraphicFramePr>
          <p:nvPr>
            <p:extLst>
              <p:ext uri="{D42A27DB-BD31-4B8C-83A1-F6EECF244321}">
                <p14:modId xmlns:p14="http://schemas.microsoft.com/office/powerpoint/2010/main" val="2047096114"/>
              </p:ext>
            </p:extLst>
          </p:nvPr>
        </p:nvGraphicFramePr>
        <p:xfrm>
          <a:off x="8483600" y="2480128"/>
          <a:ext cx="3312159" cy="4261972"/>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 maybe how fast we can move the CubeSat in the spherical bearing.</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10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2-3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Pressure valves, tubing, connectors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Yes, using spherical bearing fixture and entire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38575811-C5B0-E821-6BDE-12F26263B37F}"/>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3BE2C6F5-115F-2CEE-461C-26C84FDF6091}"/>
              </a:ext>
            </a:extLst>
          </p:cNvPr>
          <p:cNvGraphicFramePr>
            <a:graphicFrameLocks noGrp="1"/>
          </p:cNvGraphicFramePr>
          <p:nvPr>
            <p:extLst>
              <p:ext uri="{D42A27DB-BD31-4B8C-83A1-F6EECF244321}">
                <p14:modId xmlns:p14="http://schemas.microsoft.com/office/powerpoint/2010/main" val="3898265773"/>
              </p:ext>
            </p:extLst>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3F7B2718-4EB5-6D08-405D-C61A76B0229D}"/>
              </a:ext>
            </a:extLst>
          </p:cNvPr>
          <p:cNvGraphicFramePr>
            <a:graphicFrameLocks noGrp="1"/>
          </p:cNvGraphicFramePr>
          <p:nvPr>
            <p:extLst>
              <p:ext uri="{D42A27DB-BD31-4B8C-83A1-F6EECF244321}">
                <p14:modId xmlns:p14="http://schemas.microsoft.com/office/powerpoint/2010/main" val="3590622995"/>
              </p:ext>
            </p:extLst>
          </p:nvPr>
        </p:nvGraphicFramePr>
        <p:xfrm>
          <a:off x="678863" y="2027698"/>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algn="ctr" fontAlgn="base">
                        <a:lnSpc>
                          <a:spcPts val="1050"/>
                        </a:lnSpc>
                      </a:pPr>
                      <a:r>
                        <a:rPr lang="en-US" sz="1200" b="1">
                          <a:effectLst/>
                          <a:latin typeface="Trebuchet MS" panose="020B0603020202020204" pitchFamily="34" charset="0"/>
                        </a:rPr>
                        <a:t>4</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IMU</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Tracks acceleration (accuracy)</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Gravity force</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-16 to 16</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r>
                        <a:rPr lang="en-US" sz="1200">
                          <a:effectLst/>
                          <a:latin typeface="Trebuchet MS" panose="020B0603020202020204" pitchFamily="34" charset="0"/>
                        </a:rPr>
                        <a:t>Spherical Bearing (among others)</a:t>
                      </a:r>
                      <a:endParaRPr lang="en-US">
                        <a:effectLst/>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28105396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9F1BBD-8B5D-D9C1-833D-983DDE1B82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4D154-C98A-4CEE-1881-383C900ECE7A}"/>
              </a:ext>
            </a:extLst>
          </p:cNvPr>
          <p:cNvSpPr>
            <a:spLocks noGrp="1"/>
          </p:cNvSpPr>
          <p:nvPr>
            <p:ph type="title"/>
          </p:nvPr>
        </p:nvSpPr>
        <p:spPr/>
        <p:txBody>
          <a:bodyPr/>
          <a:lstStyle/>
          <a:p>
            <a:r>
              <a:rPr lang="en-US"/>
              <a:t>Detailed Test Plan #5 </a:t>
            </a:r>
          </a:p>
        </p:txBody>
      </p:sp>
      <p:sp>
        <p:nvSpPr>
          <p:cNvPr id="3" name="Content Placeholder 2">
            <a:extLst>
              <a:ext uri="{FF2B5EF4-FFF2-40B4-BE49-F238E27FC236}">
                <a16:creationId xmlns:a16="http://schemas.microsoft.com/office/drawing/2014/main" id="{DD9B0191-2CAC-8A04-5568-998AA044F56A}"/>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Map magnetic field in CubeSat's vicinity</a:t>
            </a:r>
          </a:p>
          <a:p>
            <a:pPr>
              <a:buAutoNum type="arabicParenR"/>
            </a:pPr>
            <a:r>
              <a:rPr lang="en-US"/>
              <a:t>Have the magnetometer measure magnetic field and cross-check it with our data.</a:t>
            </a:r>
          </a:p>
          <a:p>
            <a:pPr>
              <a:buFont typeface="Trebuchet MS" panose="020B0603020202020204"/>
              <a:buAutoNum type="arabicParenR"/>
            </a:pPr>
            <a:endParaRPr lang="en-US"/>
          </a:p>
          <a:p>
            <a:pPr marL="0" indent="0">
              <a:buNone/>
            </a:pPr>
            <a:r>
              <a:rPr lang="en-US"/>
              <a:t>Statistical Significance:</a:t>
            </a:r>
          </a:p>
          <a:p>
            <a:pPr>
              <a:buFont typeface="Wingdings" panose="05000000000000000000" pitchFamily="2" charset="2"/>
              <a:buChar char="§"/>
            </a:pPr>
            <a:r>
              <a:rPr lang="en-US"/>
              <a:t>An accurate magnetometer is key to ensuring CubeSat redundancy and further improving accuracy.</a:t>
            </a:r>
          </a:p>
        </p:txBody>
      </p:sp>
      <p:graphicFrame>
        <p:nvGraphicFramePr>
          <p:cNvPr id="4" name="Table 3">
            <a:extLst>
              <a:ext uri="{FF2B5EF4-FFF2-40B4-BE49-F238E27FC236}">
                <a16:creationId xmlns:a16="http://schemas.microsoft.com/office/drawing/2014/main" id="{77C7F947-95B2-01D4-40F4-5BA06F53C369}"/>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38B634EF-76CB-2223-901D-BA03A218A7C3}"/>
              </a:ext>
            </a:extLst>
          </p:cNvPr>
          <p:cNvGraphicFramePr>
            <a:graphicFrameLocks noGrp="1"/>
          </p:cNvGraphicFramePr>
          <p:nvPr>
            <p:extLst>
              <p:ext uri="{D42A27DB-BD31-4B8C-83A1-F6EECF244321}">
                <p14:modId xmlns:p14="http://schemas.microsoft.com/office/powerpoint/2010/main" val="1396990803"/>
              </p:ext>
            </p:extLst>
          </p:nvPr>
        </p:nvGraphicFramePr>
        <p:xfrm>
          <a:off x="8483600" y="2480128"/>
          <a:ext cx="3312159" cy="4182371"/>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5-10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Room/Outside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Magnetometer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Maybe just have it mounted to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4798EDBB-8F84-7ABF-EABC-F3D3162CA97D}"/>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9FE6731A-95EC-BDC3-1501-C33E9D5A98D5}"/>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6E07331A-2BBA-B571-4E2D-A227C84B5F62}"/>
              </a:ext>
            </a:extLst>
          </p:cNvPr>
          <p:cNvGraphicFramePr>
            <a:graphicFrameLocks noGrp="1"/>
          </p:cNvGraphicFramePr>
          <p:nvPr>
            <p:extLst>
              <p:ext uri="{D42A27DB-BD31-4B8C-83A1-F6EECF244321}">
                <p14:modId xmlns:p14="http://schemas.microsoft.com/office/powerpoint/2010/main" val="4138433939"/>
              </p:ext>
            </p:extLst>
          </p:nvPr>
        </p:nvGraphicFramePr>
        <p:xfrm>
          <a:off x="678863" y="2027698"/>
          <a:ext cx="11118410" cy="457200"/>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a:t>5</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Magnetometer</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Range to cover </a:t>
                      </a:r>
                      <a:r>
                        <a:rPr lang="en-US" sz="1200" b="0" i="0" u="none" strike="noStrike" noProof="0" err="1">
                          <a:latin typeface="Trebuchet MS"/>
                        </a:rPr>
                        <a:t>earths</a:t>
                      </a:r>
                      <a:r>
                        <a:rPr lang="en-US" sz="1200" b="0" i="0" u="none" strike="noStrike" noProof="0">
                          <a:latin typeface="Trebuchet MS"/>
                        </a:rPr>
                        <a:t> magnetic field</a:t>
                      </a:r>
                      <a:endParaRPr lang="en-US"/>
                    </a:p>
                  </a:txBody>
                  <a:tcPr anchor="ctr"/>
                </a:tc>
                <a:tc>
                  <a:txBody>
                    <a:bodyPr/>
                    <a:lstStyle/>
                    <a:p>
                      <a:pPr lvl="0" algn="ctr">
                        <a:lnSpc>
                          <a:spcPct val="100000"/>
                        </a:lnSpc>
                        <a:spcBef>
                          <a:spcPts val="0"/>
                        </a:spcBef>
                        <a:spcAft>
                          <a:spcPts val="0"/>
                        </a:spcAft>
                        <a:buNone/>
                      </a:pPr>
                      <a:r>
                        <a:rPr lang="en-US" sz="1200" b="0" i="0" u="none" strike="noStrike" noProof="0" err="1">
                          <a:latin typeface="Trebuchet MS"/>
                        </a:rPr>
                        <a:t>microtesla</a:t>
                      </a:r>
                      <a:endParaRPr lang="en-US" sz="1200" b="0" i="0" u="none" strike="noStrike" noProof="0">
                        <a:latin typeface="Trebuchet MS"/>
                      </a:endParaRP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20 to 10000</a:t>
                      </a:r>
                      <a:endParaRPr lang="en-US"/>
                    </a:p>
                  </a:txBody>
                  <a:tcPr anchor="ctr"/>
                </a:tc>
                <a:tc>
                  <a:txBody>
                    <a:bodyPr/>
                    <a:lstStyle/>
                    <a:p>
                      <a:pPr lvl="0" algn="ctr">
                        <a:buNone/>
                      </a:pPr>
                      <a:r>
                        <a:rPr lang="en-US" sz="1200"/>
                        <a:t>Measure magnetic field in the room and cross-check it</a:t>
                      </a:r>
                      <a:endParaRPr lang="en-US"/>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15342380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21E07-CB9F-C5EA-1875-FFC738D3BF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96ABA1-F9D1-D5F4-D012-9AB3EF65912E}"/>
              </a:ext>
            </a:extLst>
          </p:cNvPr>
          <p:cNvSpPr>
            <a:spLocks noGrp="1"/>
          </p:cNvSpPr>
          <p:nvPr>
            <p:ph type="title"/>
          </p:nvPr>
        </p:nvSpPr>
        <p:spPr/>
        <p:txBody>
          <a:bodyPr/>
          <a:lstStyle/>
          <a:p>
            <a:r>
              <a:rPr lang="en-US"/>
              <a:t>Detailed Test Plan #6 </a:t>
            </a:r>
          </a:p>
        </p:txBody>
      </p:sp>
      <p:sp>
        <p:nvSpPr>
          <p:cNvPr id="3" name="Content Placeholder 2">
            <a:extLst>
              <a:ext uri="{FF2B5EF4-FFF2-40B4-BE49-F238E27FC236}">
                <a16:creationId xmlns:a16="http://schemas.microsoft.com/office/drawing/2014/main" id="{BA223C84-1FB5-B707-3C7E-BC7BA70CBA7C}"/>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dirty="0"/>
              <a:t>Test Procedure:</a:t>
            </a:r>
          </a:p>
          <a:p>
            <a:pPr>
              <a:buAutoNum type="arabicParenR"/>
            </a:pPr>
            <a:r>
              <a:rPr lang="en-US" dirty="0"/>
              <a:t>Place CubeSat on spherical air bearing</a:t>
            </a:r>
          </a:p>
          <a:p>
            <a:pPr>
              <a:buAutoNum type="arabicParenR"/>
            </a:pPr>
            <a:r>
              <a:rPr lang="en-US" dirty="0"/>
              <a:t>Measure what reaction the magnetorquers can elicit.</a:t>
            </a:r>
          </a:p>
          <a:p>
            <a:pPr>
              <a:buFont typeface="Trebuchet MS" panose="020B0603020202020204"/>
              <a:buAutoNum type="arabicParenR"/>
            </a:pPr>
            <a:endParaRPr lang="en-US" dirty="0"/>
          </a:p>
          <a:p>
            <a:pPr marL="0" indent="0">
              <a:buNone/>
            </a:pPr>
            <a:r>
              <a:rPr lang="en-US" dirty="0"/>
              <a:t>Statistical Significance:</a:t>
            </a:r>
          </a:p>
          <a:p>
            <a:pPr>
              <a:buFont typeface="Wingdings" panose="05000000000000000000" pitchFamily="2" charset="2"/>
              <a:buChar char="§"/>
            </a:pPr>
            <a:r>
              <a:rPr lang="en-US" dirty="0"/>
              <a:t>Magnetorquers are used for kinetic energy dumping and parking orbit orientation and are key to ensuring efficiency during these periods.</a:t>
            </a:r>
          </a:p>
        </p:txBody>
      </p:sp>
      <p:graphicFrame>
        <p:nvGraphicFramePr>
          <p:cNvPr id="4" name="Table 3">
            <a:extLst>
              <a:ext uri="{FF2B5EF4-FFF2-40B4-BE49-F238E27FC236}">
                <a16:creationId xmlns:a16="http://schemas.microsoft.com/office/drawing/2014/main" id="{875A49F1-6089-5C23-9ACC-5FAFFE055F1A}"/>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F92E8DFA-C95F-6D7C-E947-E207486C4222}"/>
              </a:ext>
            </a:extLst>
          </p:cNvPr>
          <p:cNvGraphicFramePr>
            <a:graphicFrameLocks noGrp="1"/>
          </p:cNvGraphicFramePr>
          <p:nvPr>
            <p:extLst>
              <p:ext uri="{D42A27DB-BD31-4B8C-83A1-F6EECF244321}">
                <p14:modId xmlns:p14="http://schemas.microsoft.com/office/powerpoint/2010/main" val="300108737"/>
              </p:ext>
            </p:extLst>
          </p:nvPr>
        </p:nvGraphicFramePr>
        <p:xfrm>
          <a:off x="8483600" y="2480128"/>
          <a:ext cx="3312159" cy="4261972"/>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 we can weight our subsystem components as many times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15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Pressure valves, tubing, connectors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Yes, using spherical bearing fixture and entire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4370B841-64C5-D827-6A44-CB0357E0D97B}"/>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BB71AD67-97EE-B5BA-6CCB-7CCDF76C3C9E}"/>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78D5FC27-8E70-F626-8A94-00A1862FF17A}"/>
              </a:ext>
            </a:extLst>
          </p:cNvPr>
          <p:cNvGraphicFramePr>
            <a:graphicFrameLocks noGrp="1"/>
          </p:cNvGraphicFramePr>
          <p:nvPr>
            <p:extLst>
              <p:ext uri="{D42A27DB-BD31-4B8C-83A1-F6EECF244321}">
                <p14:modId xmlns:p14="http://schemas.microsoft.com/office/powerpoint/2010/main" val="581317840"/>
              </p:ext>
            </p:extLst>
          </p:nvPr>
        </p:nvGraphicFramePr>
        <p:xfrm>
          <a:off x="678863" y="2027698"/>
          <a:ext cx="11118410" cy="457200"/>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a:t>6</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Magnetic dipole</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Magnetorquers ability to create a magnetic dipole</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Am^2</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0.1 to 10</a:t>
                      </a:r>
                      <a:endParaRPr lang="en-US"/>
                    </a:p>
                  </a:txBody>
                  <a:tcPr anchor="ctr"/>
                </a:tc>
                <a:tc>
                  <a:txBody>
                    <a:bodyPr/>
                    <a:lstStyle/>
                    <a:p>
                      <a:pPr lvl="0" algn="ctr">
                        <a:buNone/>
                      </a:pPr>
                      <a:r>
                        <a:rPr lang="en-US" sz="1200"/>
                        <a:t>Spherical Bearing</a:t>
                      </a:r>
                      <a:endParaRPr lang="en-US"/>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38062871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3D7AB7-2A84-03B7-69B1-159794D47D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C8591-058A-30C2-6FE5-5CEE7217DFDC}"/>
              </a:ext>
            </a:extLst>
          </p:cNvPr>
          <p:cNvSpPr>
            <a:spLocks noGrp="1"/>
          </p:cNvSpPr>
          <p:nvPr>
            <p:ph type="title"/>
          </p:nvPr>
        </p:nvSpPr>
        <p:spPr/>
        <p:txBody>
          <a:bodyPr/>
          <a:lstStyle/>
          <a:p>
            <a:r>
              <a:rPr lang="en-US"/>
              <a:t>Detailed Test Plan #7</a:t>
            </a:r>
          </a:p>
        </p:txBody>
      </p:sp>
      <p:sp>
        <p:nvSpPr>
          <p:cNvPr id="3" name="Content Placeholder 2">
            <a:extLst>
              <a:ext uri="{FF2B5EF4-FFF2-40B4-BE49-F238E27FC236}">
                <a16:creationId xmlns:a16="http://schemas.microsoft.com/office/drawing/2014/main" id="{DCB52BF9-724E-52D8-8C83-FABFA7811B9B}"/>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Place calibration sheet on ceiling</a:t>
            </a:r>
          </a:p>
          <a:p>
            <a:pPr>
              <a:buAutoNum type="arabicParenR"/>
            </a:pPr>
            <a:r>
              <a:rPr lang="en-US"/>
              <a:t>Use the Star Tracker camera with the correct lens.</a:t>
            </a:r>
          </a:p>
          <a:p>
            <a:pPr>
              <a:buAutoNum type="arabicParenR"/>
            </a:pPr>
            <a:r>
              <a:rPr lang="en-US"/>
              <a:t>Use the camera to measure the distance between each set of dots on the calibration sheet, change the resolution for each test until it can do it.</a:t>
            </a:r>
          </a:p>
          <a:p>
            <a:pPr>
              <a:buFont typeface="Trebuchet MS" panose="020B0603020202020204"/>
              <a:buAutoNum type="arabicParenR"/>
            </a:pPr>
            <a:endParaRPr lang="en-US"/>
          </a:p>
          <a:p>
            <a:pPr>
              <a:buFont typeface="Trebuchet MS" panose="020B0603020202020204"/>
              <a:buAutoNum type="arabicParenR"/>
            </a:pPr>
            <a:endParaRPr lang="en-US"/>
          </a:p>
          <a:p>
            <a:pPr marL="0" indent="0">
              <a:buNone/>
            </a:pPr>
            <a:r>
              <a:rPr lang="en-US"/>
              <a:t>Statistical Significance:</a:t>
            </a:r>
          </a:p>
          <a:p>
            <a:pPr>
              <a:buFont typeface="Wingdings" panose="05000000000000000000" pitchFamily="2" charset="2"/>
              <a:buChar char="§"/>
            </a:pPr>
            <a:r>
              <a:rPr lang="en-US"/>
              <a:t>CubeSat will be able to use Star Tracker to navigate and determine its orientation as well as cross-check with other systems.</a:t>
            </a:r>
          </a:p>
        </p:txBody>
      </p:sp>
      <p:graphicFrame>
        <p:nvGraphicFramePr>
          <p:cNvPr id="4" name="Table 3">
            <a:extLst>
              <a:ext uri="{FF2B5EF4-FFF2-40B4-BE49-F238E27FC236}">
                <a16:creationId xmlns:a16="http://schemas.microsoft.com/office/drawing/2014/main" id="{E389252E-DA2D-B687-15B3-E55D34F0B76C}"/>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87735EFA-D5B8-075E-8D26-53FD324AC47D}"/>
              </a:ext>
            </a:extLst>
          </p:cNvPr>
          <p:cNvGraphicFramePr>
            <a:graphicFrameLocks noGrp="1"/>
          </p:cNvGraphicFramePr>
          <p:nvPr>
            <p:extLst>
              <p:ext uri="{D42A27DB-BD31-4B8C-83A1-F6EECF244321}">
                <p14:modId xmlns:p14="http://schemas.microsoft.com/office/powerpoint/2010/main" val="923758798"/>
              </p:ext>
            </p:extLst>
          </p:nvPr>
        </p:nvGraphicFramePr>
        <p:xfrm>
          <a:off x="8483600" y="2480128"/>
          <a:ext cx="3312159" cy="4182371"/>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 we can do many different calibration sheets.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15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Star tracker camera and appropriate lens. Calibration Sheet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F6547B8D-4FCC-0229-E0B1-8E9AF6BA3A36}"/>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30ACB41F-5693-8E48-75F0-8242F7629534}"/>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55237363-A10B-B2F1-0D37-243B5829AF10}"/>
              </a:ext>
            </a:extLst>
          </p:cNvPr>
          <p:cNvGraphicFramePr>
            <a:graphicFrameLocks noGrp="1"/>
          </p:cNvGraphicFramePr>
          <p:nvPr>
            <p:extLst>
              <p:ext uri="{D42A27DB-BD31-4B8C-83A1-F6EECF244321}">
                <p14:modId xmlns:p14="http://schemas.microsoft.com/office/powerpoint/2010/main" val="3577955663"/>
              </p:ext>
            </p:extLst>
          </p:nvPr>
        </p:nvGraphicFramePr>
        <p:xfrm>
          <a:off x="678863" y="2027698"/>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a:t>7</a:t>
                      </a:r>
                      <a:endParaRPr lang="en-US"/>
                    </a:p>
                  </a:txBody>
                  <a:tcPr anchor="ctr"/>
                </a:tc>
                <a:tc>
                  <a:txBody>
                    <a:bodyPr/>
                    <a:lstStyle/>
                    <a:p>
                      <a:pPr lvl="0" algn="ctr">
                        <a:buNone/>
                      </a:pPr>
                      <a:r>
                        <a:rPr lang="en-US" sz="1200" b="0" i="0" u="none" strike="noStrike" noProof="0">
                          <a:latin typeface="Trebuchet MS"/>
                        </a:rPr>
                        <a:t>FOV</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Star Tracker camera</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deg</a:t>
                      </a:r>
                      <a:endParaRPr lang="en-US"/>
                    </a:p>
                  </a:txBody>
                  <a:tcPr anchor="ctr"/>
                </a:tc>
                <a:tc>
                  <a:txBody>
                    <a:bodyPr/>
                    <a:lstStyle/>
                    <a:p>
                      <a:pPr lvl="0" algn="ctr">
                        <a:lnSpc>
                          <a:spcPct val="100000"/>
                        </a:lnSpc>
                        <a:spcBef>
                          <a:spcPts val="0"/>
                        </a:spcBef>
                        <a:spcAft>
                          <a:spcPts val="0"/>
                        </a:spcAft>
                        <a:buNone/>
                      </a:pPr>
                      <a:r>
                        <a:rPr lang="en-US" sz="1200" b="0" i="0" u="none" strike="noStrike" noProof="0" dirty="0">
                          <a:latin typeface="Trebuchet MS"/>
                        </a:rPr>
                        <a:t>40</a:t>
                      </a:r>
                      <a:endParaRPr lang="en-US" dirty="0"/>
                    </a:p>
                  </a:txBody>
                  <a:tcPr anchor="ctr"/>
                </a:tc>
                <a:tc>
                  <a:txBody>
                    <a:bodyPr/>
                    <a:lstStyle/>
                    <a:p>
                      <a:pPr lvl="0" algn="ctr">
                        <a:buNone/>
                      </a:pPr>
                      <a:r>
                        <a:rPr lang="en-US" sz="1200" dirty="0"/>
                        <a:t>Ceiling calibration</a:t>
                      </a:r>
                      <a:endParaRPr lang="en-US" dirty="0"/>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6041939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dirty="0"/>
              <a:t>Detailed Test Plan #8 </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Font typeface="+mj-lt"/>
              <a:buAutoNum type="arabicParenR"/>
            </a:pPr>
            <a:r>
              <a:rPr lang="en-US"/>
              <a:t>Gather all of the control subsystem components that are going to be mounted for the CubeSat.</a:t>
            </a:r>
          </a:p>
          <a:p>
            <a:pPr>
              <a:buFont typeface="+mj-lt"/>
              <a:buAutoNum type="arabicParenR"/>
            </a:pPr>
            <a:r>
              <a:rPr lang="en-US"/>
              <a:t>Assemble all the components and weigh them on the scale. Or we can do each one individually.</a:t>
            </a:r>
          </a:p>
          <a:p>
            <a:pPr>
              <a:buFont typeface="Trebuchet MS" panose="020B0603020202020204"/>
              <a:buAutoNum type="arabicParenR"/>
            </a:pPr>
            <a:endParaRPr lang="en-US"/>
          </a:p>
          <a:p>
            <a:pPr marL="0" indent="0">
              <a:buNone/>
            </a:pPr>
            <a:r>
              <a:rPr lang="en-US"/>
              <a:t>Statistical Significance:</a:t>
            </a:r>
          </a:p>
          <a:p>
            <a:pPr>
              <a:buFont typeface="Wingdings" panose="05000000000000000000" pitchFamily="2" charset="2"/>
              <a:buChar char="§"/>
            </a:pPr>
            <a:r>
              <a:rPr lang="en-US"/>
              <a:t>We have a restriction on how much our subsystem can weigh. It is important to know the total weight of our entire subsystem so that we are not over the acceptable range.</a:t>
            </a:r>
          </a:p>
        </p:txBody>
      </p:sp>
      <p:graphicFrame>
        <p:nvGraphicFramePr>
          <p:cNvPr id="4" name="Table 3">
            <a:extLst>
              <a:ext uri="{FF2B5EF4-FFF2-40B4-BE49-F238E27FC236}">
                <a16:creationId xmlns:a16="http://schemas.microsoft.com/office/drawing/2014/main" id="{67E72A62-D2E1-9222-34A6-DE25B81F63AE}"/>
              </a:ext>
            </a:extLst>
          </p:cNvPr>
          <p:cNvGraphicFramePr>
            <a:graphicFrameLocks noGrp="1"/>
          </p:cNvGraphicFramePr>
          <p:nvPr>
            <p:extLst>
              <p:ext uri="{D42A27DB-BD31-4B8C-83A1-F6EECF244321}">
                <p14:modId xmlns:p14="http://schemas.microsoft.com/office/powerpoint/2010/main" val="291475018"/>
              </p:ext>
            </p:extLst>
          </p:nvPr>
        </p:nvGraphicFramePr>
        <p:xfrm>
          <a:off x="677334" y="1435734"/>
          <a:ext cx="11118425" cy="1044394"/>
        </p:xfrm>
        <a:graphic>
          <a:graphicData uri="http://schemas.openxmlformats.org/drawingml/2006/table">
            <a:tbl>
              <a:tblPr firstRow="1" bandRow="1">
                <a:tableStyleId>{5C22544A-7EE6-4342-B048-85BDC9FD1C3A}</a:tableStyleId>
              </a:tblPr>
              <a:tblGrid>
                <a:gridCol w="531706">
                  <a:extLst>
                    <a:ext uri="{9D8B030D-6E8A-4147-A177-3AD203B41FA5}">
                      <a16:colId xmlns:a16="http://schemas.microsoft.com/office/drawing/2014/main" val="3379832835"/>
                    </a:ext>
                  </a:extLst>
                </a:gridCol>
                <a:gridCol w="1991360">
                  <a:extLst>
                    <a:ext uri="{9D8B030D-6E8A-4147-A177-3AD203B41FA5}">
                      <a16:colId xmlns:a16="http://schemas.microsoft.com/office/drawing/2014/main" val="1031752385"/>
                    </a:ext>
                  </a:extLst>
                </a:gridCol>
                <a:gridCol w="3078480">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80">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r>
                        <a:rPr lang="en-US" sz="1200" b="1"/>
                        <a:t>8</a:t>
                      </a:r>
                    </a:p>
                  </a:txBody>
                  <a:tcPr anchor="ctr"/>
                </a:tc>
                <a:tc>
                  <a:txBody>
                    <a:bodyPr/>
                    <a:lstStyle/>
                    <a:p>
                      <a:pPr algn="ctr"/>
                      <a:r>
                        <a:rPr lang="en-US" sz="1200"/>
                        <a:t>Weight</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Total Contingency Weight</a:t>
                      </a:r>
                      <a:endParaRPr lang="en-US"/>
                    </a:p>
                  </a:txBody>
                  <a:tcPr anchor="ctr"/>
                </a:tc>
                <a:tc>
                  <a:txBody>
                    <a:bodyPr/>
                    <a:lstStyle/>
                    <a:p>
                      <a:pPr lvl="0" algn="ctr">
                        <a:buNone/>
                      </a:pPr>
                      <a:r>
                        <a:rPr lang="en-US" sz="1200"/>
                        <a:t>g</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752.64</a:t>
                      </a:r>
                      <a:endParaRPr lang="en-US"/>
                    </a:p>
                  </a:txBody>
                  <a:tcPr anchor="ctr"/>
                </a:tc>
                <a:tc>
                  <a:txBody>
                    <a:bodyPr/>
                    <a:lstStyle/>
                    <a:p>
                      <a:pPr algn="ctr"/>
                      <a:r>
                        <a:rPr lang="en-US" sz="1200"/>
                        <a:t>Scale</a:t>
                      </a:r>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D8CD0CE1-095F-55DB-3D1B-EFCC719CA93D}"/>
              </a:ext>
            </a:extLst>
          </p:cNvPr>
          <p:cNvGraphicFramePr>
            <a:graphicFrameLocks noGrp="1"/>
          </p:cNvGraphicFramePr>
          <p:nvPr>
            <p:extLst>
              <p:ext uri="{D42A27DB-BD31-4B8C-83A1-F6EECF244321}">
                <p14:modId xmlns:p14="http://schemas.microsoft.com/office/powerpoint/2010/main" val="1052289320"/>
              </p:ext>
            </p:extLst>
          </p:nvPr>
        </p:nvGraphicFramePr>
        <p:xfrm>
          <a:off x="8483600" y="2480128"/>
          <a:ext cx="3312159" cy="4261972"/>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 we can weight our subsystem components as many times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10-60 seconds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Shop Classroom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Scale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All Control Fixtures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spTree>
    <p:extLst>
      <p:ext uri="{BB962C8B-B14F-4D97-AF65-F5344CB8AC3E}">
        <p14:creationId xmlns:p14="http://schemas.microsoft.com/office/powerpoint/2010/main" val="7939121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2A6A85-284D-F218-FF41-99A9D3A8AAF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E18245-D41D-88B7-C223-D7FF62F59476}"/>
              </a:ext>
            </a:extLst>
          </p:cNvPr>
          <p:cNvSpPr>
            <a:spLocks noGrp="1"/>
          </p:cNvSpPr>
          <p:nvPr>
            <p:ph type="title"/>
          </p:nvPr>
        </p:nvSpPr>
        <p:spPr/>
        <p:txBody>
          <a:bodyPr/>
          <a:lstStyle/>
          <a:p>
            <a:r>
              <a:rPr lang="en-US" dirty="0"/>
              <a:t>Detailed Test Plan #9</a:t>
            </a:r>
          </a:p>
        </p:txBody>
      </p:sp>
      <p:sp>
        <p:nvSpPr>
          <p:cNvPr id="3" name="Content Placeholder 2">
            <a:extLst>
              <a:ext uri="{FF2B5EF4-FFF2-40B4-BE49-F238E27FC236}">
                <a16:creationId xmlns:a16="http://schemas.microsoft.com/office/drawing/2014/main" id="{B8391CA4-432D-CDCC-9FB1-631B5FD892CB}"/>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Place CubeSat on spherical air bearing</a:t>
            </a:r>
          </a:p>
          <a:p>
            <a:pPr>
              <a:buAutoNum type="arabicParenR"/>
            </a:pPr>
            <a:r>
              <a:rPr lang="en-US"/>
              <a:t>Run program and determine ability to initiate and terminate rotation with as little oscillation as possible.</a:t>
            </a:r>
          </a:p>
          <a:p>
            <a:pPr>
              <a:buFont typeface="Trebuchet MS" panose="020B0603020202020204"/>
              <a:buAutoNum type="arabicParenR"/>
            </a:pPr>
            <a:endParaRPr lang="en-US"/>
          </a:p>
          <a:p>
            <a:pPr marL="0" indent="0">
              <a:buNone/>
            </a:pPr>
            <a:r>
              <a:rPr lang="en-US"/>
              <a:t>Statistical Significance:</a:t>
            </a:r>
          </a:p>
          <a:p>
            <a:pPr>
              <a:buFont typeface="Wingdings" panose="05000000000000000000" pitchFamily="2" charset="2"/>
              <a:buChar char="§"/>
            </a:pPr>
            <a:r>
              <a:rPr lang="en-US"/>
              <a:t>Ability to rotate and negate oscillation could determine CubeSat's ability to complete its mission.</a:t>
            </a:r>
          </a:p>
        </p:txBody>
      </p:sp>
      <p:graphicFrame>
        <p:nvGraphicFramePr>
          <p:cNvPr id="4" name="Table 3">
            <a:extLst>
              <a:ext uri="{FF2B5EF4-FFF2-40B4-BE49-F238E27FC236}">
                <a16:creationId xmlns:a16="http://schemas.microsoft.com/office/drawing/2014/main" id="{68022429-A3D0-148F-12E9-9975D49E7A9B}"/>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A92B227D-94EB-FCE4-AF32-94FA559DF07D}"/>
              </a:ext>
            </a:extLst>
          </p:cNvPr>
          <p:cNvGraphicFramePr>
            <a:graphicFrameLocks noGrp="1"/>
          </p:cNvGraphicFramePr>
          <p:nvPr>
            <p:extLst>
              <p:ext uri="{D42A27DB-BD31-4B8C-83A1-F6EECF244321}">
                <p14:modId xmlns:p14="http://schemas.microsoft.com/office/powerpoint/2010/main" val="1904765494"/>
              </p:ext>
            </p:extLst>
          </p:nvPr>
        </p:nvGraphicFramePr>
        <p:xfrm>
          <a:off x="8483600" y="2480128"/>
          <a:ext cx="3312159" cy="4293352"/>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75423">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20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6662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 we shouldn’t have any.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77325">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10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75423">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2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75423">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6662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Pressure valves, tubing, connectors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0">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Yes, using spherical bearing fixture and entire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45F7EF7C-2373-D6D2-82F7-D193D53330CB}"/>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A20BE80A-E0DA-125C-F0E0-5B79662C3227}"/>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875A030D-2730-C368-67C8-0B14C50272F7}"/>
              </a:ext>
            </a:extLst>
          </p:cNvPr>
          <p:cNvGraphicFramePr>
            <a:graphicFrameLocks noGrp="1"/>
          </p:cNvGraphicFramePr>
          <p:nvPr>
            <p:extLst>
              <p:ext uri="{D42A27DB-BD31-4B8C-83A1-F6EECF244321}">
                <p14:modId xmlns:p14="http://schemas.microsoft.com/office/powerpoint/2010/main" val="1027222872"/>
              </p:ext>
            </p:extLst>
          </p:nvPr>
        </p:nvGraphicFramePr>
        <p:xfrm>
          <a:off x="678863" y="2027698"/>
          <a:ext cx="11118410" cy="457200"/>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dirty="0"/>
                        <a:t>9</a:t>
                      </a: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Rotating Accuracy</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How accurately the </a:t>
                      </a:r>
                      <a:r>
                        <a:rPr lang="en-US" sz="1200" b="0" i="0" u="none" strike="noStrike" noProof="0" err="1">
                          <a:latin typeface="Trebuchet MS"/>
                        </a:rPr>
                        <a:t>cubesat</a:t>
                      </a:r>
                      <a:r>
                        <a:rPr lang="en-US" sz="1200" b="0" i="0" u="none" strike="noStrike" noProof="0">
                          <a:latin typeface="Trebuchet MS"/>
                        </a:rPr>
                        <a:t> is able to rotate</a:t>
                      </a:r>
                      <a:endParaRPr lang="en-US"/>
                    </a:p>
                  </a:txBody>
                  <a:tcPr anchor="ctr"/>
                </a:tc>
                <a:tc>
                  <a:txBody>
                    <a:bodyPr/>
                    <a:lstStyle/>
                    <a:p>
                      <a:pPr lvl="0" algn="ctr">
                        <a:lnSpc>
                          <a:spcPct val="100000"/>
                        </a:lnSpc>
                        <a:spcBef>
                          <a:spcPts val="0"/>
                        </a:spcBef>
                        <a:spcAft>
                          <a:spcPts val="0"/>
                        </a:spcAft>
                        <a:buNone/>
                      </a:pPr>
                      <a:r>
                        <a:rPr lang="en-US" sz="1200" b="0" i="0" u="none" strike="noStrike" noProof="0" err="1">
                          <a:latin typeface="Trebuchet MS"/>
                        </a:rPr>
                        <a:t>mrad</a:t>
                      </a:r>
                      <a:endParaRPr lang="en-US" sz="1200" b="0" i="0" u="none" strike="noStrike" noProof="0">
                        <a:latin typeface="Trebuchet MS"/>
                      </a:endParaRPr>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0.1 to 1</a:t>
                      </a:r>
                      <a:endParaRPr lang="en-US"/>
                    </a:p>
                  </a:txBody>
                  <a:tcPr anchor="ctr"/>
                </a:tc>
                <a:tc>
                  <a:txBody>
                    <a:bodyPr/>
                    <a:lstStyle/>
                    <a:p>
                      <a:pPr lvl="0" algn="ctr">
                        <a:buNone/>
                      </a:pPr>
                      <a:r>
                        <a:rPr lang="en-US" sz="1200" dirty="0"/>
                        <a:t>Spherical Bearing</a:t>
                      </a:r>
                      <a:endParaRPr lang="en-US" dirty="0"/>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13826743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CA93B-0297-7B61-1ECD-F3D5EF0CA49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19CC50-8775-3B71-5D51-6ADE91BE192F}"/>
              </a:ext>
            </a:extLst>
          </p:cNvPr>
          <p:cNvSpPr>
            <a:spLocks noGrp="1"/>
          </p:cNvSpPr>
          <p:nvPr>
            <p:ph type="title"/>
          </p:nvPr>
        </p:nvSpPr>
        <p:spPr/>
        <p:txBody>
          <a:bodyPr/>
          <a:lstStyle/>
          <a:p>
            <a:r>
              <a:rPr lang="en-US" dirty="0"/>
              <a:t>Detailed Test Plan #10</a:t>
            </a:r>
          </a:p>
        </p:txBody>
      </p:sp>
      <p:sp>
        <p:nvSpPr>
          <p:cNvPr id="3" name="Content Placeholder 2">
            <a:extLst>
              <a:ext uri="{FF2B5EF4-FFF2-40B4-BE49-F238E27FC236}">
                <a16:creationId xmlns:a16="http://schemas.microsoft.com/office/drawing/2014/main" id="{2B28A2C0-8705-82D1-CA07-38F48C680CFD}"/>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Spin up reaction control wheel motors at maximum power to determine power consumption at different speeds.</a:t>
            </a:r>
          </a:p>
          <a:p>
            <a:pPr marL="0" indent="0">
              <a:buNone/>
            </a:pPr>
            <a:endParaRPr lang="en-US"/>
          </a:p>
          <a:p>
            <a:pPr marL="0" indent="0">
              <a:buNone/>
            </a:pPr>
            <a:r>
              <a:rPr lang="en-US"/>
              <a:t>Statistical Significance:</a:t>
            </a:r>
          </a:p>
          <a:p>
            <a:pPr>
              <a:buFont typeface="Wingdings" panose="05000000000000000000" pitchFamily="2" charset="2"/>
              <a:buChar char="§"/>
            </a:pPr>
            <a:r>
              <a:rPr lang="en-US"/>
              <a:t>We must be able to provide an accurate estimate of what power the reaction control wheel motor consume to budget electricity to other systems.</a:t>
            </a:r>
          </a:p>
        </p:txBody>
      </p:sp>
      <p:graphicFrame>
        <p:nvGraphicFramePr>
          <p:cNvPr id="4" name="Table 3">
            <a:extLst>
              <a:ext uri="{FF2B5EF4-FFF2-40B4-BE49-F238E27FC236}">
                <a16:creationId xmlns:a16="http://schemas.microsoft.com/office/drawing/2014/main" id="{8EF8F0AF-0D63-AE77-8506-6F42F5773368}"/>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C04B6080-81EB-136C-75F4-4068AC988E27}"/>
              </a:ext>
            </a:extLst>
          </p:cNvPr>
          <p:cNvGraphicFramePr>
            <a:graphicFrameLocks noGrp="1"/>
          </p:cNvGraphicFramePr>
          <p:nvPr>
            <p:extLst>
              <p:ext uri="{D42A27DB-BD31-4B8C-83A1-F6EECF244321}">
                <p14:modId xmlns:p14="http://schemas.microsoft.com/office/powerpoint/2010/main" val="3379687810"/>
              </p:ext>
            </p:extLst>
          </p:nvPr>
        </p:nvGraphicFramePr>
        <p:xfrm>
          <a:off x="8483600" y="2480128"/>
          <a:ext cx="3312159" cy="4261972"/>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1-2 tests, don't want to damage hardware.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Yes, make sure we don't go over max power for the components.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5-10 seconds, don't want to possibly damage the equipment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3 minutes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Power Supply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All electronic components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5B61577E-FB7A-7803-EE7C-B51A2CD13A30}"/>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6BD44B0E-5053-E043-5C3B-3795148D08F4}"/>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24B85158-D881-E0C7-9E44-4DCE6CF9396D}"/>
              </a:ext>
            </a:extLst>
          </p:cNvPr>
          <p:cNvGraphicFramePr>
            <a:graphicFrameLocks noGrp="1"/>
          </p:cNvGraphicFramePr>
          <p:nvPr>
            <p:extLst>
              <p:ext uri="{D42A27DB-BD31-4B8C-83A1-F6EECF244321}">
                <p14:modId xmlns:p14="http://schemas.microsoft.com/office/powerpoint/2010/main" val="4237151243"/>
              </p:ext>
            </p:extLst>
          </p:nvPr>
        </p:nvGraphicFramePr>
        <p:xfrm>
          <a:off x="678863" y="2027698"/>
          <a:ext cx="11118410" cy="457200"/>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dirty="0"/>
                        <a:t>10</a:t>
                      </a:r>
                      <a:endParaRPr lang="en-US" dirty="0"/>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Power Consumption</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How power is required for the entire subsystem</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Watts</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&lt;13</a:t>
                      </a:r>
                      <a:endParaRPr lang="en-US"/>
                    </a:p>
                  </a:txBody>
                  <a:tcPr anchor="ctr"/>
                </a:tc>
                <a:tc>
                  <a:txBody>
                    <a:bodyPr/>
                    <a:lstStyle/>
                    <a:p>
                      <a:pPr lvl="0" algn="ctr">
                        <a:buNone/>
                      </a:pPr>
                      <a:r>
                        <a:rPr lang="en-US" sz="1200" dirty="0"/>
                        <a:t>Spin-up motors</a:t>
                      </a:r>
                      <a:endParaRPr lang="en-US" dirty="0"/>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3378209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19EE46-4844-C901-5829-352D072B425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F53418-7B1B-97B7-EB56-F4AA6324452D}"/>
              </a:ext>
            </a:extLst>
          </p:cNvPr>
          <p:cNvSpPr>
            <a:spLocks noGrp="1"/>
          </p:cNvSpPr>
          <p:nvPr>
            <p:ph type="title"/>
          </p:nvPr>
        </p:nvSpPr>
        <p:spPr/>
        <p:txBody>
          <a:bodyPr/>
          <a:lstStyle/>
          <a:p>
            <a:r>
              <a:rPr lang="en-US" dirty="0"/>
              <a:t>Detailed Test Plan #11</a:t>
            </a:r>
          </a:p>
        </p:txBody>
      </p:sp>
      <p:sp>
        <p:nvSpPr>
          <p:cNvPr id="3" name="Content Placeholder 2">
            <a:extLst>
              <a:ext uri="{FF2B5EF4-FFF2-40B4-BE49-F238E27FC236}">
                <a16:creationId xmlns:a16="http://schemas.microsoft.com/office/drawing/2014/main" id="{363B9B6B-5653-3B65-63BC-C3A467A0B271}"/>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Keep track of Control spendings and take measures to keep costs within feasible limits.</a:t>
            </a:r>
          </a:p>
          <a:p>
            <a:pPr marL="0" indent="0">
              <a:buNone/>
            </a:pPr>
            <a:endParaRPr lang="en-US"/>
          </a:p>
          <a:p>
            <a:pPr marL="0" indent="0">
              <a:buNone/>
            </a:pPr>
            <a:endParaRPr lang="en-US"/>
          </a:p>
          <a:p>
            <a:pPr marL="0" indent="0">
              <a:buNone/>
            </a:pPr>
            <a:r>
              <a:rPr lang="en-US"/>
              <a:t>Statistical Significance:</a:t>
            </a:r>
          </a:p>
          <a:p>
            <a:pPr>
              <a:buFont typeface="Wingdings" panose="05000000000000000000" pitchFamily="2" charset="2"/>
              <a:buChar char="§"/>
            </a:pPr>
            <a:r>
              <a:rPr lang="en-US"/>
              <a:t>CubeSat must remain within budget and we must keep track of projected costs.</a:t>
            </a:r>
          </a:p>
        </p:txBody>
      </p:sp>
      <p:graphicFrame>
        <p:nvGraphicFramePr>
          <p:cNvPr id="4" name="Table 3">
            <a:extLst>
              <a:ext uri="{FF2B5EF4-FFF2-40B4-BE49-F238E27FC236}">
                <a16:creationId xmlns:a16="http://schemas.microsoft.com/office/drawing/2014/main" id="{97C7E0D7-6E4B-4259-FFF9-F39C0BBBBAD1}"/>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640C9C89-4CCF-9C42-6EB4-331E67CEB022}"/>
              </a:ext>
            </a:extLst>
          </p:cNvPr>
          <p:cNvGraphicFramePr>
            <a:graphicFrameLocks noGrp="1"/>
          </p:cNvGraphicFramePr>
          <p:nvPr>
            <p:extLst>
              <p:ext uri="{D42A27DB-BD31-4B8C-83A1-F6EECF244321}">
                <p14:modId xmlns:p14="http://schemas.microsoft.com/office/powerpoint/2010/main" val="175842608"/>
              </p:ext>
            </p:extLst>
          </p:nvPr>
        </p:nvGraphicFramePr>
        <p:xfrm>
          <a:off x="8483600" y="2480128"/>
          <a:ext cx="3312159" cy="4182371"/>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One 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Don't go over budget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N/A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N/A</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or Anywhere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Computer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7130A54B-F8F4-CCE5-C196-D4249835A080}"/>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ABB2A44A-38ED-6B3E-EC13-28605E70BEB8}"/>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54CE2004-696B-DBCA-9AE5-599F20F1B806}"/>
              </a:ext>
            </a:extLst>
          </p:cNvPr>
          <p:cNvGraphicFramePr>
            <a:graphicFrameLocks noGrp="1"/>
          </p:cNvGraphicFramePr>
          <p:nvPr>
            <p:extLst>
              <p:ext uri="{D42A27DB-BD31-4B8C-83A1-F6EECF244321}">
                <p14:modId xmlns:p14="http://schemas.microsoft.com/office/powerpoint/2010/main" val="1365670925"/>
              </p:ext>
            </p:extLst>
          </p:nvPr>
        </p:nvGraphicFramePr>
        <p:xfrm>
          <a:off x="678863" y="2027698"/>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dirty="0"/>
                        <a:t>11</a:t>
                      </a:r>
                      <a:endParaRPr lang="en-US" dirty="0"/>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Budget</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Budget for the Control Subsystem</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&lt;1500</a:t>
                      </a:r>
                      <a:endParaRPr lang="en-US"/>
                    </a:p>
                  </a:txBody>
                  <a:tcPr anchor="ctr"/>
                </a:tc>
                <a:tc>
                  <a:txBody>
                    <a:bodyPr/>
                    <a:lstStyle/>
                    <a:p>
                      <a:pPr lvl="0" algn="ctr">
                        <a:buNone/>
                      </a:pPr>
                      <a:r>
                        <a:rPr lang="en-US" sz="1200" dirty="0"/>
                        <a:t>Spend Wisely</a:t>
                      </a:r>
                      <a:endParaRPr lang="en-US" dirty="0"/>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35312230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4C6B2A-DA99-D6D7-D04D-24B5600AD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C9D04B0-3E6F-B409-56EB-FBC5F030DCE8}"/>
              </a:ext>
            </a:extLst>
          </p:cNvPr>
          <p:cNvSpPr>
            <a:spLocks noGrp="1"/>
          </p:cNvSpPr>
          <p:nvPr>
            <p:ph type="title"/>
          </p:nvPr>
        </p:nvSpPr>
        <p:spPr/>
        <p:txBody>
          <a:bodyPr/>
          <a:lstStyle/>
          <a:p>
            <a:r>
              <a:rPr lang="en-US" dirty="0"/>
              <a:t>Detailed Test Plan #12</a:t>
            </a:r>
          </a:p>
        </p:txBody>
      </p:sp>
      <p:sp>
        <p:nvSpPr>
          <p:cNvPr id="3" name="Content Placeholder 2">
            <a:extLst>
              <a:ext uri="{FF2B5EF4-FFF2-40B4-BE49-F238E27FC236}">
                <a16:creationId xmlns:a16="http://schemas.microsoft.com/office/drawing/2014/main" id="{21A0E009-5575-F88D-64A6-9290A64919B1}"/>
              </a:ext>
            </a:extLst>
          </p:cNvPr>
          <p:cNvSpPr>
            <a:spLocks noGrp="1"/>
          </p:cNvSpPr>
          <p:nvPr>
            <p:ph idx="1"/>
          </p:nvPr>
        </p:nvSpPr>
        <p:spPr>
          <a:xfrm>
            <a:off x="677334" y="2641600"/>
            <a:ext cx="7440506" cy="4100500"/>
          </a:xfrm>
        </p:spPr>
        <p:txBody>
          <a:bodyPr vert="horz" lIns="91440" tIns="45720" rIns="91440" bIns="45720" rtlCol="0" anchor="t">
            <a:normAutofit/>
          </a:bodyPr>
          <a:lstStyle/>
          <a:p>
            <a:pPr marL="0" indent="0">
              <a:buNone/>
            </a:pPr>
            <a:r>
              <a:rPr lang="en-US" sz="1800"/>
              <a:t>Test Procedure:</a:t>
            </a:r>
          </a:p>
          <a:p>
            <a:pPr>
              <a:buAutoNum type="arabicParenR"/>
            </a:pPr>
            <a:r>
              <a:rPr lang="en-US"/>
              <a:t>Determine what angular rates CubeSat will need to rotate at to track ground targets</a:t>
            </a:r>
          </a:p>
          <a:p>
            <a:pPr>
              <a:buAutoNum type="arabicParenR"/>
            </a:pPr>
            <a:r>
              <a:rPr lang="en-US"/>
              <a:t>Place CubeSat on spherical air bearing</a:t>
            </a:r>
          </a:p>
          <a:p>
            <a:pPr>
              <a:buAutoNum type="arabicParenR"/>
            </a:pPr>
            <a:r>
              <a:rPr lang="en-US"/>
              <a:t>Run program and determine accuracy and whether or not CubeSat can maintain desired rates accurately.</a:t>
            </a:r>
          </a:p>
          <a:p>
            <a:pPr marL="0" indent="0">
              <a:buNone/>
            </a:pPr>
            <a:endParaRPr lang="en-US"/>
          </a:p>
          <a:p>
            <a:pPr marL="0" indent="0">
              <a:buNone/>
            </a:pPr>
            <a:r>
              <a:rPr lang="en-US"/>
              <a:t>Statistical Significance:</a:t>
            </a:r>
          </a:p>
          <a:p>
            <a:pPr>
              <a:buFont typeface="Wingdings" panose="05000000000000000000" pitchFamily="2" charset="2"/>
              <a:buChar char="§"/>
            </a:pPr>
            <a:r>
              <a:rPr lang="en-US"/>
              <a:t>CubeSat must be able to track ground targets accurately.</a:t>
            </a:r>
          </a:p>
        </p:txBody>
      </p:sp>
      <p:graphicFrame>
        <p:nvGraphicFramePr>
          <p:cNvPr id="4" name="Table 3">
            <a:extLst>
              <a:ext uri="{FF2B5EF4-FFF2-40B4-BE49-F238E27FC236}">
                <a16:creationId xmlns:a16="http://schemas.microsoft.com/office/drawing/2014/main" id="{757EA316-0EEF-D793-9517-A984E01FEDA5}"/>
              </a:ext>
            </a:extLst>
          </p:cNvPr>
          <p:cNvGraphicFramePr>
            <a:graphicFrameLocks noGrp="1"/>
          </p:cNvGraphicFramePr>
          <p:nvPr/>
        </p:nvGraphicFramePr>
        <p:xfrm>
          <a:off x="678050" y="1433593"/>
          <a:ext cx="11118421" cy="1044394"/>
        </p:xfrm>
        <a:graphic>
          <a:graphicData uri="http://schemas.openxmlformats.org/drawingml/2006/table">
            <a:tbl>
              <a:tblPr firstRow="1" bandRow="1">
                <a:tableStyleId>{5C22544A-7EE6-4342-B048-85BDC9FD1C3A}</a:tableStyleId>
              </a:tblPr>
              <a:tblGrid>
                <a:gridCol w="531705">
                  <a:extLst>
                    <a:ext uri="{9D8B030D-6E8A-4147-A177-3AD203B41FA5}">
                      <a16:colId xmlns:a16="http://schemas.microsoft.com/office/drawing/2014/main" val="3379832835"/>
                    </a:ext>
                  </a:extLst>
                </a:gridCol>
                <a:gridCol w="1991359">
                  <a:extLst>
                    <a:ext uri="{9D8B030D-6E8A-4147-A177-3AD203B41FA5}">
                      <a16:colId xmlns:a16="http://schemas.microsoft.com/office/drawing/2014/main" val="1031752385"/>
                    </a:ext>
                  </a:extLst>
                </a:gridCol>
                <a:gridCol w="3078479">
                  <a:extLst>
                    <a:ext uri="{9D8B030D-6E8A-4147-A177-3AD203B41FA5}">
                      <a16:colId xmlns:a16="http://schemas.microsoft.com/office/drawing/2014/main" val="4045929110"/>
                    </a:ext>
                  </a:extLst>
                </a:gridCol>
                <a:gridCol w="1005840">
                  <a:extLst>
                    <a:ext uri="{9D8B030D-6E8A-4147-A177-3AD203B41FA5}">
                      <a16:colId xmlns:a16="http://schemas.microsoft.com/office/drawing/2014/main" val="1553128571"/>
                    </a:ext>
                  </a:extLst>
                </a:gridCol>
                <a:gridCol w="1198879">
                  <a:extLst>
                    <a:ext uri="{9D8B030D-6E8A-4147-A177-3AD203B41FA5}">
                      <a16:colId xmlns:a16="http://schemas.microsoft.com/office/drawing/2014/main" val="1093142794"/>
                    </a:ext>
                  </a:extLst>
                </a:gridCol>
                <a:gridCol w="3312159">
                  <a:extLst>
                    <a:ext uri="{9D8B030D-6E8A-4147-A177-3AD203B41FA5}">
                      <a16:colId xmlns:a16="http://schemas.microsoft.com/office/drawing/2014/main" val="2131381467"/>
                    </a:ext>
                  </a:extLst>
                </a:gridCol>
              </a:tblGrid>
              <a:tr h="590702">
                <a:tc>
                  <a:txBody>
                    <a:bodyPr/>
                    <a:lstStyle/>
                    <a:p>
                      <a:pPr algn="ctr"/>
                      <a:r>
                        <a:rPr lang="en-US" sz="1200" b="0"/>
                        <a:t>#</a:t>
                      </a:r>
                    </a:p>
                  </a:txBody>
                  <a:tcPr anchor="ctr"/>
                </a:tc>
                <a:tc>
                  <a:txBody>
                    <a:bodyPr/>
                    <a:lstStyle/>
                    <a:p>
                      <a:pPr algn="ctr"/>
                      <a:r>
                        <a:rPr lang="en-US" sz="1200"/>
                        <a:t>Metric</a:t>
                      </a:r>
                    </a:p>
                  </a:txBody>
                  <a:tcPr anchor="ctr"/>
                </a:tc>
                <a:tc>
                  <a:txBody>
                    <a:bodyPr/>
                    <a:lstStyle/>
                    <a:p>
                      <a:pPr algn="ctr"/>
                      <a:r>
                        <a:rPr lang="en-US" sz="1200"/>
                        <a:t>Description</a:t>
                      </a:r>
                    </a:p>
                  </a:txBody>
                  <a:tcPr anchor="ctr"/>
                </a:tc>
                <a:tc>
                  <a:txBody>
                    <a:bodyPr/>
                    <a:lstStyle/>
                    <a:p>
                      <a:pPr algn="ctr"/>
                      <a:r>
                        <a:rPr lang="en-US" sz="1200"/>
                        <a:t>Units</a:t>
                      </a:r>
                    </a:p>
                  </a:txBody>
                  <a:tcPr anchor="ctr"/>
                </a:tc>
                <a:tc>
                  <a:txBody>
                    <a:bodyPr/>
                    <a:lstStyle/>
                    <a:p>
                      <a:pPr algn="ctr"/>
                      <a:r>
                        <a:rPr lang="en-US" sz="1200"/>
                        <a:t>Acceptable</a:t>
                      </a:r>
                    </a:p>
                    <a:p>
                      <a:pPr algn="ctr"/>
                      <a:r>
                        <a:rPr lang="en-US" sz="1200"/>
                        <a:t>Range</a:t>
                      </a:r>
                    </a:p>
                  </a:txBody>
                  <a:tcPr anchor="ctr"/>
                </a:tc>
                <a:tc>
                  <a:txBody>
                    <a:bodyPr/>
                    <a:lstStyle/>
                    <a:p>
                      <a:pPr algn="ctr"/>
                      <a:r>
                        <a:rPr lang="en-US" sz="1200"/>
                        <a:t>Planned Test</a:t>
                      </a:r>
                    </a:p>
                  </a:txBody>
                  <a:tcPr anchor="ctr">
                    <a:solidFill>
                      <a:schemeClr val="accent3"/>
                    </a:solidFill>
                  </a:tcPr>
                </a:tc>
                <a:extLst>
                  <a:ext uri="{0D108BD9-81ED-4DB2-BD59-A6C34878D82A}">
                    <a16:rowId xmlns:a16="http://schemas.microsoft.com/office/drawing/2014/main" val="2070023936"/>
                  </a:ext>
                </a:extLst>
              </a:tr>
              <a:tr h="453692">
                <a:tc>
                  <a:txBody>
                    <a:bodyPr/>
                    <a:lstStyle/>
                    <a:p>
                      <a:pPr algn="ctr"/>
                      <a:endParaRPr lang="en-US" sz="1200" b="1"/>
                    </a:p>
                  </a:txBody>
                  <a:tcPr anchor="ctr"/>
                </a:tc>
                <a:tc>
                  <a:txBody>
                    <a:bodyPr/>
                    <a:lstStyle/>
                    <a:p>
                      <a:pPr algn="ct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lvl="0" algn="ctr">
                        <a:buNone/>
                      </a:pPr>
                      <a:endParaRPr lang="en-US" sz="1200"/>
                    </a:p>
                  </a:txBody>
                  <a:tcPr anchor="ctr"/>
                </a:tc>
                <a:tc>
                  <a:txBody>
                    <a:bodyPr/>
                    <a:lstStyle/>
                    <a:p>
                      <a:pPr lvl="0" algn="ctr">
                        <a:lnSpc>
                          <a:spcPct val="100000"/>
                        </a:lnSpc>
                        <a:spcBef>
                          <a:spcPts val="0"/>
                        </a:spcBef>
                        <a:spcAft>
                          <a:spcPts val="0"/>
                        </a:spcAft>
                        <a:buNone/>
                      </a:pPr>
                      <a:endParaRPr lang="en-US" sz="1200" b="0" i="0" u="none" strike="noStrike" noProof="0">
                        <a:latin typeface="Trebuchet MS"/>
                      </a:endParaRPr>
                    </a:p>
                  </a:txBody>
                  <a:tcPr anchor="ctr"/>
                </a:tc>
                <a:tc>
                  <a:txBody>
                    <a:bodyPr/>
                    <a:lstStyle/>
                    <a:p>
                      <a:pPr algn="ctr"/>
                      <a:endParaRPr lang="en-US" sz="1200"/>
                    </a:p>
                  </a:txBody>
                  <a:tcPr anchor="ctr"/>
                </a:tc>
                <a:extLst>
                  <a:ext uri="{0D108BD9-81ED-4DB2-BD59-A6C34878D82A}">
                    <a16:rowId xmlns:a16="http://schemas.microsoft.com/office/drawing/2014/main" val="1280095861"/>
                  </a:ext>
                </a:extLst>
              </a:tr>
            </a:tbl>
          </a:graphicData>
        </a:graphic>
      </p:graphicFrame>
      <p:graphicFrame>
        <p:nvGraphicFramePr>
          <p:cNvPr id="5" name="Table 4">
            <a:extLst>
              <a:ext uri="{FF2B5EF4-FFF2-40B4-BE49-F238E27FC236}">
                <a16:creationId xmlns:a16="http://schemas.microsoft.com/office/drawing/2014/main" id="{18370682-5AD2-6118-D1A7-8006ADDD5603}"/>
              </a:ext>
            </a:extLst>
          </p:cNvPr>
          <p:cNvGraphicFramePr>
            <a:graphicFrameLocks noGrp="1"/>
          </p:cNvGraphicFramePr>
          <p:nvPr>
            <p:extLst>
              <p:ext uri="{D42A27DB-BD31-4B8C-83A1-F6EECF244321}">
                <p14:modId xmlns:p14="http://schemas.microsoft.com/office/powerpoint/2010/main" val="1657751304"/>
              </p:ext>
            </p:extLst>
          </p:nvPr>
        </p:nvGraphicFramePr>
        <p:xfrm>
          <a:off x="8483600" y="2480128"/>
          <a:ext cx="3312159" cy="4182371"/>
        </p:xfrm>
        <a:graphic>
          <a:graphicData uri="http://schemas.openxmlformats.org/drawingml/2006/table">
            <a:tbl>
              <a:tblPr firstRow="1" bandRow="1">
                <a:tableStyleId>{5940675A-B579-460E-94D1-54222C63F5DA}</a:tableStyleId>
              </a:tblPr>
              <a:tblGrid>
                <a:gridCol w="1107440">
                  <a:extLst>
                    <a:ext uri="{9D8B030D-6E8A-4147-A177-3AD203B41FA5}">
                      <a16:colId xmlns:a16="http://schemas.microsoft.com/office/drawing/2014/main" val="1093142794"/>
                    </a:ext>
                  </a:extLst>
                </a:gridCol>
                <a:gridCol w="2204719">
                  <a:extLst>
                    <a:ext uri="{9D8B030D-6E8A-4147-A177-3AD203B41FA5}">
                      <a16:colId xmlns:a16="http://schemas.microsoft.com/office/drawing/2014/main" val="2131381467"/>
                    </a:ext>
                  </a:extLst>
                </a:gridCol>
              </a:tblGrid>
              <a:tr h="556179">
                <a:tc>
                  <a:txBody>
                    <a:bodyPr/>
                    <a:lstStyle/>
                    <a:p>
                      <a:pPr algn="ctr"/>
                      <a:r>
                        <a:rPr lang="en-US" sz="1200" b="1">
                          <a:solidFill>
                            <a:schemeClr val="bg1"/>
                          </a:solidFill>
                        </a:rPr>
                        <a:t># Tests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5</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1280095861"/>
                  </a:ext>
                </a:extLst>
              </a:tr>
              <a:tr h="560479">
                <a:tc>
                  <a:txBody>
                    <a:bodyPr/>
                    <a:lstStyle/>
                    <a:p>
                      <a:pPr algn="ctr"/>
                      <a:r>
                        <a:rPr lang="en-US" sz="1200" b="1">
                          <a:solidFill>
                            <a:schemeClr val="bg1"/>
                          </a:solidFill>
                        </a:rPr>
                        <a:t>Limitations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No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3238951379"/>
                  </a:ext>
                </a:extLst>
              </a:tr>
              <a:tr h="752796">
                <a:tc>
                  <a:txBody>
                    <a:bodyPr/>
                    <a:lstStyle/>
                    <a:p>
                      <a:pPr algn="ctr"/>
                      <a:r>
                        <a:rPr lang="en-US" sz="1200" b="1">
                          <a:solidFill>
                            <a:schemeClr val="bg1"/>
                          </a:solidFill>
                        </a:rPr>
                        <a:t>Time/Test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1 hour</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053650315"/>
                  </a:ext>
                </a:extLst>
              </a:tr>
              <a:tr h="560479">
                <a:tc>
                  <a:txBody>
                    <a:bodyPr/>
                    <a:lstStyle/>
                    <a:p>
                      <a:pPr algn="ctr"/>
                      <a:r>
                        <a:rPr lang="en-US" sz="1200" b="1">
                          <a:solidFill>
                            <a:schemeClr val="bg1"/>
                          </a:solidFill>
                        </a:rPr>
                        <a:t>Total Time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5 hours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2860293982"/>
                  </a:ext>
                </a:extLst>
              </a:tr>
              <a:tr h="556179">
                <a:tc>
                  <a:txBody>
                    <a:bodyPr/>
                    <a:lstStyle/>
                    <a:p>
                      <a:pPr algn="ctr"/>
                      <a:r>
                        <a:rPr lang="en-US" sz="1200" b="1">
                          <a:solidFill>
                            <a:schemeClr val="bg1"/>
                          </a:solidFill>
                        </a:rPr>
                        <a:t>Location</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Capstone Room</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2340634958"/>
                  </a:ext>
                </a:extLst>
              </a:tr>
              <a:tr h="556179">
                <a:tc>
                  <a:txBody>
                    <a:bodyPr/>
                    <a:lstStyle/>
                    <a:p>
                      <a:pPr algn="ctr"/>
                      <a:r>
                        <a:rPr lang="en-US" sz="1200" b="1">
                          <a:solidFill>
                            <a:schemeClr val="bg1"/>
                          </a:solidFill>
                        </a:rPr>
                        <a:t>Test</a:t>
                      </a:r>
                    </a:p>
                    <a:p>
                      <a:pPr algn="ctr"/>
                      <a:r>
                        <a:rPr lang="en-US" sz="1200" b="1">
                          <a:solidFill>
                            <a:schemeClr val="bg1"/>
                          </a:solidFill>
                        </a:rPr>
                        <a:t>Equipment</a:t>
                      </a:r>
                    </a:p>
                    <a:p>
                      <a:pPr algn="ctr"/>
                      <a:r>
                        <a:rPr lang="en-US" sz="1200" b="1">
                          <a:solidFill>
                            <a:schemeClr val="bg1"/>
                          </a:solidFill>
                        </a:rPr>
                        <a:t>Needed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algn="ctr"/>
                      <a:r>
                        <a:rPr lang="en-US" sz="1200"/>
                        <a:t>Pressure valves, tubing, connectors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lumMod val="90000"/>
                      </a:schemeClr>
                    </a:solidFill>
                  </a:tcPr>
                </a:tc>
                <a:extLst>
                  <a:ext uri="{0D108BD9-81ED-4DB2-BD59-A6C34878D82A}">
                    <a16:rowId xmlns:a16="http://schemas.microsoft.com/office/drawing/2014/main" val="1809659456"/>
                  </a:ext>
                </a:extLst>
              </a:tr>
              <a:tr h="556179">
                <a:tc>
                  <a:txBody>
                    <a:bodyPr/>
                    <a:lstStyle/>
                    <a:p>
                      <a:pPr algn="ctr"/>
                      <a:r>
                        <a:rPr lang="en-US" sz="1200" b="1">
                          <a:solidFill>
                            <a:schemeClr val="bg1"/>
                          </a:solidFill>
                        </a:rPr>
                        <a:t>Jig/Fixture</a:t>
                      </a:r>
                    </a:p>
                    <a:p>
                      <a:pPr algn="ctr"/>
                      <a:r>
                        <a:rPr lang="en-US" sz="1200" b="1">
                          <a:solidFill>
                            <a:schemeClr val="bg1"/>
                          </a:solidFill>
                        </a:rPr>
                        <a:t>Required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accent3"/>
                    </a:solidFill>
                  </a:tcPr>
                </a:tc>
                <a:tc>
                  <a:txBody>
                    <a:bodyPr/>
                    <a:lstStyle/>
                    <a:p>
                      <a:pPr lvl="0" algn="ctr">
                        <a:buNone/>
                      </a:pPr>
                      <a:r>
                        <a:rPr lang="en-US" sz="1200"/>
                        <a:t>Yes, using spherical bearing fixture and entire CubeSat.</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bg2"/>
                    </a:solidFill>
                  </a:tcPr>
                </a:tc>
                <a:extLst>
                  <a:ext uri="{0D108BD9-81ED-4DB2-BD59-A6C34878D82A}">
                    <a16:rowId xmlns:a16="http://schemas.microsoft.com/office/drawing/2014/main" val="588918339"/>
                  </a:ext>
                </a:extLst>
              </a:tr>
            </a:tbl>
          </a:graphicData>
        </a:graphic>
      </p:graphicFrame>
      <p:graphicFrame>
        <p:nvGraphicFramePr>
          <p:cNvPr id="7" name="Table 6">
            <a:extLst>
              <a:ext uri="{FF2B5EF4-FFF2-40B4-BE49-F238E27FC236}">
                <a16:creationId xmlns:a16="http://schemas.microsoft.com/office/drawing/2014/main" id="{9D5800E6-462D-EE5F-992D-05B4FFADE1A3}"/>
              </a:ext>
            </a:extLst>
          </p:cNvPr>
          <p:cNvGraphicFramePr>
            <a:graphicFrameLocks noGrp="1"/>
          </p:cNvGraphicFramePr>
          <p:nvPr/>
        </p:nvGraphicFramePr>
        <p:xfrm>
          <a:off x="678051" y="2014779"/>
          <a:ext cx="11118410" cy="464949"/>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06472025"/>
                    </a:ext>
                  </a:extLst>
                </a:gridCol>
                <a:gridCol w="1991354">
                  <a:extLst>
                    <a:ext uri="{9D8B030D-6E8A-4147-A177-3AD203B41FA5}">
                      <a16:colId xmlns:a16="http://schemas.microsoft.com/office/drawing/2014/main" val="1829596384"/>
                    </a:ext>
                  </a:extLst>
                </a:gridCol>
                <a:gridCol w="3078480">
                  <a:extLst>
                    <a:ext uri="{9D8B030D-6E8A-4147-A177-3AD203B41FA5}">
                      <a16:colId xmlns:a16="http://schemas.microsoft.com/office/drawing/2014/main" val="223101139"/>
                    </a:ext>
                  </a:extLst>
                </a:gridCol>
                <a:gridCol w="1005840">
                  <a:extLst>
                    <a:ext uri="{9D8B030D-6E8A-4147-A177-3AD203B41FA5}">
                      <a16:colId xmlns:a16="http://schemas.microsoft.com/office/drawing/2014/main" val="1098433338"/>
                    </a:ext>
                  </a:extLst>
                </a:gridCol>
                <a:gridCol w="1198874">
                  <a:extLst>
                    <a:ext uri="{9D8B030D-6E8A-4147-A177-3AD203B41FA5}">
                      <a16:colId xmlns:a16="http://schemas.microsoft.com/office/drawing/2014/main" val="1758658204"/>
                    </a:ext>
                  </a:extLst>
                </a:gridCol>
                <a:gridCol w="3312157">
                  <a:extLst>
                    <a:ext uri="{9D8B030D-6E8A-4147-A177-3AD203B41FA5}">
                      <a16:colId xmlns:a16="http://schemas.microsoft.com/office/drawing/2014/main" val="392505979"/>
                    </a:ext>
                  </a:extLst>
                </a:gridCol>
              </a:tblGrid>
              <a:tr h="464949">
                <a:tc>
                  <a:txBody>
                    <a:bodyPr/>
                    <a:lstStyle/>
                    <a:p>
                      <a:pPr algn="ctr" rtl="0"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rtl="0"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635970401"/>
                  </a:ext>
                </a:extLst>
              </a:tr>
            </a:tbl>
          </a:graphicData>
        </a:graphic>
      </p:graphicFrame>
      <p:graphicFrame>
        <p:nvGraphicFramePr>
          <p:cNvPr id="8" name="Table 7">
            <a:extLst>
              <a:ext uri="{FF2B5EF4-FFF2-40B4-BE49-F238E27FC236}">
                <a16:creationId xmlns:a16="http://schemas.microsoft.com/office/drawing/2014/main" id="{3D1FC8DB-DEA9-4A6C-C33F-4119AE94E3EE}"/>
              </a:ext>
            </a:extLst>
          </p:cNvPr>
          <p:cNvGraphicFramePr>
            <a:graphicFrameLocks noGrp="1"/>
          </p:cNvGraphicFramePr>
          <p:nvPr/>
        </p:nvGraphicFramePr>
        <p:xfrm>
          <a:off x="678863" y="2014783"/>
          <a:ext cx="11118410" cy="452028"/>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1846820977"/>
                    </a:ext>
                  </a:extLst>
                </a:gridCol>
                <a:gridCol w="1991354">
                  <a:extLst>
                    <a:ext uri="{9D8B030D-6E8A-4147-A177-3AD203B41FA5}">
                      <a16:colId xmlns:a16="http://schemas.microsoft.com/office/drawing/2014/main" val="3427341879"/>
                    </a:ext>
                  </a:extLst>
                </a:gridCol>
                <a:gridCol w="3078480">
                  <a:extLst>
                    <a:ext uri="{9D8B030D-6E8A-4147-A177-3AD203B41FA5}">
                      <a16:colId xmlns:a16="http://schemas.microsoft.com/office/drawing/2014/main" val="747816421"/>
                    </a:ext>
                  </a:extLst>
                </a:gridCol>
                <a:gridCol w="1005840">
                  <a:extLst>
                    <a:ext uri="{9D8B030D-6E8A-4147-A177-3AD203B41FA5}">
                      <a16:colId xmlns:a16="http://schemas.microsoft.com/office/drawing/2014/main" val="751594953"/>
                    </a:ext>
                  </a:extLst>
                </a:gridCol>
                <a:gridCol w="1198874">
                  <a:extLst>
                    <a:ext uri="{9D8B030D-6E8A-4147-A177-3AD203B41FA5}">
                      <a16:colId xmlns:a16="http://schemas.microsoft.com/office/drawing/2014/main" val="2589330100"/>
                    </a:ext>
                  </a:extLst>
                </a:gridCol>
                <a:gridCol w="3312157">
                  <a:extLst>
                    <a:ext uri="{9D8B030D-6E8A-4147-A177-3AD203B41FA5}">
                      <a16:colId xmlns:a16="http://schemas.microsoft.com/office/drawing/2014/main" val="2142220683"/>
                    </a:ext>
                  </a:extLst>
                </a:gridCol>
              </a:tblGrid>
              <a:tr h="452028">
                <a:tc>
                  <a:txBody>
                    <a:bodyPr/>
                    <a:lstStyle/>
                    <a:p>
                      <a:pPr algn="ctr" fontAlgn="base">
                        <a:lnSpc>
                          <a:spcPts val="1050"/>
                        </a:lnSpc>
                      </a:pPr>
                      <a:endParaRPr lang="en-US" sz="1200" b="1">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tc>
                  <a:txBody>
                    <a:bodyPr/>
                    <a:lstStyle/>
                    <a:p>
                      <a:pPr algn="ctr" fontAlgn="base">
                        <a:lnSpc>
                          <a:spcPts val="1050"/>
                        </a:lnSpc>
                      </a:pPr>
                      <a:endParaRPr lang="en-US" sz="1200">
                        <a:effectLst/>
                        <a:latin typeface="Trebuchet MS"/>
                      </a:endParaRPr>
                    </a:p>
                  </a:txBody>
                  <a:tcPr marL="67437" marR="67437" marT="33719" marB="33719" anchor="ctr">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9525" cap="flat" cmpd="sng" algn="ctr">
                      <a:solidFill>
                        <a:srgbClr val="FFFFFF"/>
                      </a:solidFill>
                      <a:prstDash val="solid"/>
                      <a:round/>
                      <a:headEnd type="none" w="med" len="med"/>
                      <a:tailEnd type="none" w="med" len="med"/>
                    </a:lnT>
                    <a:lnB w="9525" cap="flat" cmpd="sng" algn="ctr">
                      <a:solidFill>
                        <a:srgbClr val="FFFFFF"/>
                      </a:solidFill>
                      <a:prstDash val="solid"/>
                      <a:round/>
                      <a:headEnd type="none" w="med" len="med"/>
                      <a:tailEnd type="none" w="med" len="med"/>
                    </a:lnB>
                    <a:noFill/>
                  </a:tcPr>
                </a:tc>
                <a:extLst>
                  <a:ext uri="{0D108BD9-81ED-4DB2-BD59-A6C34878D82A}">
                    <a16:rowId xmlns:a16="http://schemas.microsoft.com/office/drawing/2014/main" val="1461634532"/>
                  </a:ext>
                </a:extLst>
              </a:tr>
            </a:tbl>
          </a:graphicData>
        </a:graphic>
      </p:graphicFrame>
      <p:graphicFrame>
        <p:nvGraphicFramePr>
          <p:cNvPr id="9" name="Table 8">
            <a:extLst>
              <a:ext uri="{FF2B5EF4-FFF2-40B4-BE49-F238E27FC236}">
                <a16:creationId xmlns:a16="http://schemas.microsoft.com/office/drawing/2014/main" id="{3C9B5760-44E9-FFCC-EF95-8D458314A8B4}"/>
              </a:ext>
            </a:extLst>
          </p:cNvPr>
          <p:cNvGraphicFramePr>
            <a:graphicFrameLocks noGrp="1"/>
          </p:cNvGraphicFramePr>
          <p:nvPr>
            <p:extLst>
              <p:ext uri="{D42A27DB-BD31-4B8C-83A1-F6EECF244321}">
                <p14:modId xmlns:p14="http://schemas.microsoft.com/office/powerpoint/2010/main" val="1832604319"/>
              </p:ext>
            </p:extLst>
          </p:nvPr>
        </p:nvGraphicFramePr>
        <p:xfrm>
          <a:off x="678863" y="2027698"/>
          <a:ext cx="11118410" cy="457200"/>
        </p:xfrm>
        <a:graphic>
          <a:graphicData uri="http://schemas.openxmlformats.org/drawingml/2006/table">
            <a:tbl>
              <a:tblPr bandRow="1">
                <a:tableStyleId>{5C22544A-7EE6-4342-B048-85BDC9FD1C3A}</a:tableStyleId>
              </a:tblPr>
              <a:tblGrid>
                <a:gridCol w="531705">
                  <a:extLst>
                    <a:ext uri="{9D8B030D-6E8A-4147-A177-3AD203B41FA5}">
                      <a16:colId xmlns:a16="http://schemas.microsoft.com/office/drawing/2014/main" val="399619917"/>
                    </a:ext>
                  </a:extLst>
                </a:gridCol>
                <a:gridCol w="1991354">
                  <a:extLst>
                    <a:ext uri="{9D8B030D-6E8A-4147-A177-3AD203B41FA5}">
                      <a16:colId xmlns:a16="http://schemas.microsoft.com/office/drawing/2014/main" val="3784194969"/>
                    </a:ext>
                  </a:extLst>
                </a:gridCol>
                <a:gridCol w="3078480">
                  <a:extLst>
                    <a:ext uri="{9D8B030D-6E8A-4147-A177-3AD203B41FA5}">
                      <a16:colId xmlns:a16="http://schemas.microsoft.com/office/drawing/2014/main" val="2286747460"/>
                    </a:ext>
                  </a:extLst>
                </a:gridCol>
                <a:gridCol w="1005840">
                  <a:extLst>
                    <a:ext uri="{9D8B030D-6E8A-4147-A177-3AD203B41FA5}">
                      <a16:colId xmlns:a16="http://schemas.microsoft.com/office/drawing/2014/main" val="2906690619"/>
                    </a:ext>
                  </a:extLst>
                </a:gridCol>
                <a:gridCol w="1198874">
                  <a:extLst>
                    <a:ext uri="{9D8B030D-6E8A-4147-A177-3AD203B41FA5}">
                      <a16:colId xmlns:a16="http://schemas.microsoft.com/office/drawing/2014/main" val="629365892"/>
                    </a:ext>
                  </a:extLst>
                </a:gridCol>
                <a:gridCol w="3312157">
                  <a:extLst>
                    <a:ext uri="{9D8B030D-6E8A-4147-A177-3AD203B41FA5}">
                      <a16:colId xmlns:a16="http://schemas.microsoft.com/office/drawing/2014/main" val="2540084248"/>
                    </a:ext>
                  </a:extLst>
                </a:gridCol>
              </a:tblGrid>
              <a:tr h="452028">
                <a:tc>
                  <a:txBody>
                    <a:bodyPr/>
                    <a:lstStyle/>
                    <a:p>
                      <a:pPr lvl="0" algn="ctr">
                        <a:buNone/>
                      </a:pPr>
                      <a:r>
                        <a:rPr lang="en-US" sz="1200" b="1" dirty="0"/>
                        <a:t>14</a:t>
                      </a:r>
                      <a:endParaRPr lang="en-US" dirty="0"/>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Angular Velocity (Rotating)</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How fast </a:t>
                      </a:r>
                      <a:r>
                        <a:rPr lang="en-US" sz="1200" b="0" i="0" u="none" strike="noStrike" noProof="0" err="1">
                          <a:latin typeface="Trebuchet MS"/>
                        </a:rPr>
                        <a:t>cubesat</a:t>
                      </a:r>
                      <a:r>
                        <a:rPr lang="en-US" sz="1200" b="0" i="0" u="none" strike="noStrike" noProof="0">
                          <a:latin typeface="Trebuchet MS"/>
                        </a:rPr>
                        <a:t> will need to move to complete rotation to take picture</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rad/s</a:t>
                      </a:r>
                      <a:endParaRPr lang="en-US"/>
                    </a:p>
                  </a:txBody>
                  <a:tcPr anchor="ctr"/>
                </a:tc>
                <a:tc>
                  <a:txBody>
                    <a:bodyPr/>
                    <a:lstStyle/>
                    <a:p>
                      <a:pPr lvl="0" algn="ctr">
                        <a:lnSpc>
                          <a:spcPct val="100000"/>
                        </a:lnSpc>
                        <a:spcBef>
                          <a:spcPts val="0"/>
                        </a:spcBef>
                        <a:spcAft>
                          <a:spcPts val="0"/>
                        </a:spcAft>
                        <a:buNone/>
                      </a:pPr>
                      <a:r>
                        <a:rPr lang="en-US" sz="1200" b="0" i="0" u="none" strike="noStrike" noProof="0">
                          <a:latin typeface="Trebuchet MS"/>
                        </a:rPr>
                        <a:t>0.01 to 0.1</a:t>
                      </a:r>
                      <a:endParaRPr lang="en-US"/>
                    </a:p>
                  </a:txBody>
                  <a:tcPr anchor="ctr"/>
                </a:tc>
                <a:tc>
                  <a:txBody>
                    <a:bodyPr/>
                    <a:lstStyle/>
                    <a:p>
                      <a:pPr lvl="0" algn="ctr">
                        <a:buNone/>
                      </a:pPr>
                      <a:r>
                        <a:rPr lang="en-US" sz="1200" dirty="0"/>
                        <a:t>Spherical Bearing</a:t>
                      </a:r>
                      <a:endParaRPr lang="en-US" dirty="0"/>
                    </a:p>
                  </a:txBody>
                  <a:tcPr anchor="ctr"/>
                </a:tc>
                <a:extLst>
                  <a:ext uri="{0D108BD9-81ED-4DB2-BD59-A6C34878D82A}">
                    <a16:rowId xmlns:a16="http://schemas.microsoft.com/office/drawing/2014/main" val="2793650018"/>
                  </a:ext>
                </a:extLst>
              </a:tr>
            </a:tbl>
          </a:graphicData>
        </a:graphic>
      </p:graphicFrame>
    </p:spTree>
    <p:extLst>
      <p:ext uri="{BB962C8B-B14F-4D97-AF65-F5344CB8AC3E}">
        <p14:creationId xmlns:p14="http://schemas.microsoft.com/office/powerpoint/2010/main" val="1243292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A9DF95-75B5-7285-7779-C04B58011A7B}"/>
            </a:ext>
          </a:extLst>
        </p:cNvPr>
        <p:cNvGrpSpPr/>
        <p:nvPr/>
      </p:nvGrpSpPr>
      <p:grpSpPr>
        <a:xfrm>
          <a:off x="0" y="0"/>
          <a:ext cx="0" cy="0"/>
          <a:chOff x="0" y="0"/>
          <a:chExt cx="0" cy="0"/>
        </a:xfrm>
      </p:grpSpPr>
      <p:pic>
        <p:nvPicPr>
          <p:cNvPr id="6" name="Picture 5" descr="A close-up of a camera lens&#10;&#10;AI-generated content may be incorrect.">
            <a:extLst>
              <a:ext uri="{FF2B5EF4-FFF2-40B4-BE49-F238E27FC236}">
                <a16:creationId xmlns:a16="http://schemas.microsoft.com/office/drawing/2014/main" id="{0C0C706C-1750-4D5E-14CC-1CED72B3247D}"/>
              </a:ext>
            </a:extLst>
          </p:cNvPr>
          <p:cNvPicPr>
            <a:picLocks noChangeAspect="1"/>
          </p:cNvPicPr>
          <p:nvPr/>
        </p:nvPicPr>
        <p:blipFill>
          <a:blip r:embed="rId3"/>
          <a:stretch>
            <a:fillRect/>
          </a:stretch>
        </p:blipFill>
        <p:spPr>
          <a:xfrm>
            <a:off x="8401050" y="77688"/>
            <a:ext cx="2743200" cy="2892624"/>
          </a:xfrm>
          <a:prstGeom prst="rect">
            <a:avLst/>
          </a:prstGeom>
        </p:spPr>
      </p:pic>
      <p:sp>
        <p:nvSpPr>
          <p:cNvPr id="2" name="Title 1">
            <a:extLst>
              <a:ext uri="{FF2B5EF4-FFF2-40B4-BE49-F238E27FC236}">
                <a16:creationId xmlns:a16="http://schemas.microsoft.com/office/drawing/2014/main" id="{ACE8EBF8-0425-0765-0478-3561D7F4CBD5}"/>
              </a:ext>
            </a:extLst>
          </p:cNvPr>
          <p:cNvSpPr>
            <a:spLocks noGrp="1"/>
          </p:cNvSpPr>
          <p:nvPr>
            <p:ph type="title"/>
          </p:nvPr>
        </p:nvSpPr>
        <p:spPr/>
        <p:txBody>
          <a:bodyPr/>
          <a:lstStyle/>
          <a:p>
            <a:r>
              <a:rPr lang="en-US"/>
              <a:t>Calibration</a:t>
            </a:r>
          </a:p>
        </p:txBody>
      </p:sp>
      <p:sp>
        <p:nvSpPr>
          <p:cNvPr id="3" name="Content Placeholder 2">
            <a:extLst>
              <a:ext uri="{FF2B5EF4-FFF2-40B4-BE49-F238E27FC236}">
                <a16:creationId xmlns:a16="http://schemas.microsoft.com/office/drawing/2014/main" id="{A49CB1AA-8CD7-FCBD-D40C-2F44B0C55585}"/>
              </a:ext>
            </a:extLst>
          </p:cNvPr>
          <p:cNvSpPr>
            <a:spLocks noGrp="1"/>
          </p:cNvSpPr>
          <p:nvPr>
            <p:ph idx="1"/>
          </p:nvPr>
        </p:nvSpPr>
        <p:spPr>
          <a:xfrm>
            <a:off x="677334" y="1638300"/>
            <a:ext cx="8596668" cy="4940299"/>
          </a:xfrm>
        </p:spPr>
        <p:txBody>
          <a:bodyPr vert="horz" lIns="91440" tIns="45720" rIns="91440" bIns="45720" rtlCol="0" anchor="t">
            <a:normAutofit/>
          </a:bodyPr>
          <a:lstStyle/>
          <a:p>
            <a:pPr marL="0" indent="0">
              <a:buNone/>
            </a:pPr>
            <a:endParaRPr lang="en-US"/>
          </a:p>
          <a:p>
            <a:r>
              <a:rPr lang="en-US"/>
              <a:t>The one thing that we need to calibrate with our subsystem is the star tracker camera. Specifically, calibrating the camera's resolution.</a:t>
            </a:r>
          </a:p>
          <a:p>
            <a:r>
              <a:rPr lang="en-US"/>
              <a:t>Step-by-step plan on calibrating:</a:t>
            </a:r>
          </a:p>
          <a:p>
            <a:pPr lvl="1">
              <a:buAutoNum type="arabicPeriod"/>
            </a:pPr>
            <a:r>
              <a:rPr lang="en-US"/>
              <a:t>Write out a Matlab code that creates a grid of dots.</a:t>
            </a:r>
          </a:p>
          <a:p>
            <a:pPr lvl="1">
              <a:buAutoNum type="arabicPeriod"/>
            </a:pPr>
            <a:r>
              <a:rPr lang="en-US"/>
              <a:t>Create different pdfs, changing the lengths between each dot.</a:t>
            </a:r>
          </a:p>
          <a:p>
            <a:pPr lvl="1">
              <a:buAutoNum type="arabicPeriod"/>
            </a:pPr>
            <a:r>
              <a:rPr lang="en-US"/>
              <a:t>Have the camera measure and see if it can recognize the distance between each of the dots to. This will help with calibrating the resolution</a:t>
            </a:r>
          </a:p>
          <a:p>
            <a:endParaRPr lang="en-US"/>
          </a:p>
          <a:p>
            <a:pPr marL="0" indent="0">
              <a:buNone/>
            </a:pPr>
            <a:r>
              <a:rPr lang="en-US"/>
              <a:t>Talking Points:</a:t>
            </a:r>
          </a:p>
          <a:p>
            <a:r>
              <a:rPr lang="en-US"/>
              <a:t>Describe your calibration plan and requirements for calibration.</a:t>
            </a:r>
          </a:p>
        </p:txBody>
      </p:sp>
    </p:spTree>
    <p:extLst>
      <p:ext uri="{BB962C8B-B14F-4D97-AF65-F5344CB8AC3E}">
        <p14:creationId xmlns:p14="http://schemas.microsoft.com/office/powerpoint/2010/main" val="260802305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6EB4-8701-22BF-3374-019DDCFFFA8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B7D142-8232-32A1-94EC-94C16AEADF56}"/>
              </a:ext>
            </a:extLst>
          </p:cNvPr>
          <p:cNvSpPr>
            <a:spLocks noGrp="1"/>
          </p:cNvSpPr>
          <p:nvPr>
            <p:ph type="title"/>
          </p:nvPr>
        </p:nvSpPr>
        <p:spPr/>
        <p:txBody>
          <a:bodyPr/>
          <a:lstStyle/>
          <a:p>
            <a:r>
              <a:rPr lang="en-US"/>
              <a:t>Fabrication Plan</a:t>
            </a:r>
          </a:p>
        </p:txBody>
      </p:sp>
      <p:graphicFrame>
        <p:nvGraphicFramePr>
          <p:cNvPr id="7" name="Table 6">
            <a:extLst>
              <a:ext uri="{FF2B5EF4-FFF2-40B4-BE49-F238E27FC236}">
                <a16:creationId xmlns:a16="http://schemas.microsoft.com/office/drawing/2014/main" id="{C66072F7-EA53-1D8B-E7E8-ABC9B8D193C9}"/>
              </a:ext>
            </a:extLst>
          </p:cNvPr>
          <p:cNvGraphicFramePr>
            <a:graphicFrameLocks noGrp="1"/>
          </p:cNvGraphicFramePr>
          <p:nvPr>
            <p:extLst>
              <p:ext uri="{D42A27DB-BD31-4B8C-83A1-F6EECF244321}">
                <p14:modId xmlns:p14="http://schemas.microsoft.com/office/powerpoint/2010/main" val="546039026"/>
              </p:ext>
            </p:extLst>
          </p:nvPr>
        </p:nvGraphicFramePr>
        <p:xfrm>
          <a:off x="137583" y="1714500"/>
          <a:ext cx="11922437" cy="2103496"/>
        </p:xfrm>
        <a:graphic>
          <a:graphicData uri="http://schemas.openxmlformats.org/drawingml/2006/table">
            <a:tbl>
              <a:tblPr firstRow="1" bandRow="1">
                <a:tableStyleId>{5C22544A-7EE6-4342-B048-85BDC9FD1C3A}</a:tableStyleId>
              </a:tblPr>
              <a:tblGrid>
                <a:gridCol w="2412513">
                  <a:extLst>
                    <a:ext uri="{9D8B030D-6E8A-4147-A177-3AD203B41FA5}">
                      <a16:colId xmlns:a16="http://schemas.microsoft.com/office/drawing/2014/main" val="1031752385"/>
                    </a:ext>
                  </a:extLst>
                </a:gridCol>
                <a:gridCol w="4365012">
                  <a:extLst>
                    <a:ext uri="{9D8B030D-6E8A-4147-A177-3AD203B41FA5}">
                      <a16:colId xmlns:a16="http://schemas.microsoft.com/office/drawing/2014/main" val="4045929110"/>
                    </a:ext>
                  </a:extLst>
                </a:gridCol>
                <a:gridCol w="5144912">
                  <a:extLst>
                    <a:ext uri="{9D8B030D-6E8A-4147-A177-3AD203B41FA5}">
                      <a16:colId xmlns:a16="http://schemas.microsoft.com/office/drawing/2014/main" val="2131381467"/>
                    </a:ext>
                  </a:extLst>
                </a:gridCol>
              </a:tblGrid>
              <a:tr h="590702">
                <a:tc>
                  <a:txBody>
                    <a:bodyPr/>
                    <a:lstStyle/>
                    <a:p>
                      <a:pPr algn="ctr"/>
                      <a:r>
                        <a:rPr lang="en-US" sz="1200"/>
                        <a:t>Jig / Fixture</a:t>
                      </a:r>
                    </a:p>
                  </a:txBody>
                  <a:tcPr anchor="ctr"/>
                </a:tc>
                <a:tc>
                  <a:txBody>
                    <a:bodyPr/>
                    <a:lstStyle/>
                    <a:p>
                      <a:pPr algn="ctr"/>
                      <a:r>
                        <a:rPr lang="en-US" sz="1200"/>
                        <a:t>Process(es) Required</a:t>
                      </a:r>
                    </a:p>
                    <a:p>
                      <a:pPr algn="ctr"/>
                      <a:r>
                        <a:rPr lang="en-US" sz="1200"/>
                        <a:t>for Fabrication</a:t>
                      </a:r>
                    </a:p>
                  </a:txBody>
                  <a:tcPr anchor="ctr"/>
                </a:tc>
                <a:tc>
                  <a:txBody>
                    <a:bodyPr/>
                    <a:lstStyle/>
                    <a:p>
                      <a:pPr algn="ctr"/>
                      <a:r>
                        <a:rPr lang="en-US" sz="1200"/>
                        <a:t>Costs</a:t>
                      </a:r>
                    </a:p>
                  </a:txBody>
                  <a:tcPr anchor="ctr">
                    <a:solidFill>
                      <a:schemeClr val="accent3"/>
                    </a:solidFill>
                  </a:tcPr>
                </a:tc>
                <a:extLst>
                  <a:ext uri="{0D108BD9-81ED-4DB2-BD59-A6C34878D82A}">
                    <a16:rowId xmlns:a16="http://schemas.microsoft.com/office/drawing/2014/main" val="2070023936"/>
                  </a:ext>
                </a:extLst>
              </a:tr>
              <a:tr h="1512794">
                <a:tc>
                  <a:txBody>
                    <a:bodyPr/>
                    <a:lstStyle/>
                    <a:p>
                      <a:pPr algn="ctr"/>
                      <a:r>
                        <a:rPr lang="en-US" sz="1200"/>
                        <a:t>Reaction Wheel Mount</a:t>
                      </a:r>
                    </a:p>
                    <a:p>
                      <a:pPr lvl="0" algn="ctr">
                        <a:buNone/>
                      </a:pPr>
                      <a:r>
                        <a:rPr lang="en-US" sz="1200"/>
                        <a:t>(Have met with Professor Schiller to machine this component)</a:t>
                      </a:r>
                    </a:p>
                  </a:txBody>
                  <a:tcPr anchor="ctr"/>
                </a:tc>
                <a:tc>
                  <a:txBody>
                    <a:bodyPr/>
                    <a:lstStyle/>
                    <a:p>
                      <a:pPr algn="ctr"/>
                      <a:r>
                        <a:rPr lang="en-US" sz="1200"/>
                        <a:t>CNC Mill</a:t>
                      </a:r>
                    </a:p>
                    <a:p>
                      <a:pPr lvl="0" algn="ctr">
                        <a:buNone/>
                      </a:pPr>
                      <a:r>
                        <a:rPr lang="en-US" sz="1200"/>
                        <a:t>Manual Mill</a:t>
                      </a:r>
                    </a:p>
                  </a:txBody>
                  <a:tcPr anchor="ctr"/>
                </a:tc>
                <a:tc>
                  <a:txBody>
                    <a:bodyPr/>
                    <a:lstStyle/>
                    <a:p>
                      <a:pPr algn="ctr"/>
                      <a:r>
                        <a:rPr lang="en-US" sz="1200"/>
                        <a:t>Aluminum Stock = $46.50</a:t>
                      </a:r>
                    </a:p>
                    <a:p>
                      <a:pPr lvl="0" algn="ctr">
                        <a:buNone/>
                      </a:pPr>
                      <a:r>
                        <a:rPr lang="en-US" sz="1200"/>
                        <a:t>Custom Tooling = $186.36</a:t>
                      </a:r>
                    </a:p>
                    <a:p>
                      <a:pPr lvl="0" algn="ctr">
                        <a:buNone/>
                      </a:pPr>
                      <a:r>
                        <a:rPr lang="en-US" sz="1200"/>
                        <a:t>CNC Mill time = 6 hours</a:t>
                      </a:r>
                    </a:p>
                  </a:txBody>
                  <a:tcPr anchor="ctr"/>
                </a:tc>
                <a:extLst>
                  <a:ext uri="{0D108BD9-81ED-4DB2-BD59-A6C34878D82A}">
                    <a16:rowId xmlns:a16="http://schemas.microsoft.com/office/drawing/2014/main" val="1280095861"/>
                  </a:ext>
                </a:extLst>
              </a:tr>
            </a:tbl>
          </a:graphicData>
        </a:graphic>
      </p:graphicFrame>
      <p:pic>
        <p:nvPicPr>
          <p:cNvPr id="5" name="Picture 4" descr="A close-up of a pencil&#10;&#10;AI-generated content may be incorrect.">
            <a:extLst>
              <a:ext uri="{FF2B5EF4-FFF2-40B4-BE49-F238E27FC236}">
                <a16:creationId xmlns:a16="http://schemas.microsoft.com/office/drawing/2014/main" id="{05521612-F1CA-7839-CED2-7913F77D9417}"/>
              </a:ext>
            </a:extLst>
          </p:cNvPr>
          <p:cNvPicPr>
            <a:picLocks noChangeAspect="1"/>
          </p:cNvPicPr>
          <p:nvPr/>
        </p:nvPicPr>
        <p:blipFill>
          <a:blip r:embed="rId3"/>
          <a:stretch>
            <a:fillRect/>
          </a:stretch>
        </p:blipFill>
        <p:spPr>
          <a:xfrm>
            <a:off x="5391150" y="4462463"/>
            <a:ext cx="4210050" cy="981075"/>
          </a:xfrm>
          <a:prstGeom prst="rect">
            <a:avLst/>
          </a:prstGeom>
        </p:spPr>
      </p:pic>
      <p:pic>
        <p:nvPicPr>
          <p:cNvPr id="6" name="Picture 5">
            <a:extLst>
              <a:ext uri="{FF2B5EF4-FFF2-40B4-BE49-F238E27FC236}">
                <a16:creationId xmlns:a16="http://schemas.microsoft.com/office/drawing/2014/main" id="{3B90F2DA-4D69-9ECF-B22D-64BE511A5F84}"/>
              </a:ext>
            </a:extLst>
          </p:cNvPr>
          <p:cNvPicPr>
            <a:picLocks noChangeAspect="1"/>
          </p:cNvPicPr>
          <p:nvPr/>
        </p:nvPicPr>
        <p:blipFill>
          <a:blip r:embed="rId4"/>
          <a:stretch>
            <a:fillRect/>
          </a:stretch>
        </p:blipFill>
        <p:spPr>
          <a:xfrm>
            <a:off x="1042416" y="3911540"/>
            <a:ext cx="4004988" cy="2693551"/>
          </a:xfrm>
          <a:prstGeom prst="rect">
            <a:avLst/>
          </a:prstGeom>
        </p:spPr>
      </p:pic>
    </p:spTree>
    <p:extLst>
      <p:ext uri="{BB962C8B-B14F-4D97-AF65-F5344CB8AC3E}">
        <p14:creationId xmlns:p14="http://schemas.microsoft.com/office/powerpoint/2010/main" val="42304020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3D025-C155-0D82-0425-F7693DA6EF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17ED8A-C1B1-6AC2-F3DC-985630892868}"/>
              </a:ext>
            </a:extLst>
          </p:cNvPr>
          <p:cNvSpPr>
            <a:spLocks noGrp="1"/>
          </p:cNvSpPr>
          <p:nvPr>
            <p:ph type="title"/>
          </p:nvPr>
        </p:nvSpPr>
        <p:spPr/>
        <p:txBody>
          <a:bodyPr/>
          <a:lstStyle/>
          <a:p>
            <a:r>
              <a:rPr lang="en-US"/>
              <a:t>Bill of Materials</a:t>
            </a:r>
          </a:p>
        </p:txBody>
      </p:sp>
      <p:sp>
        <p:nvSpPr>
          <p:cNvPr id="10" name="TextBox 9">
            <a:extLst>
              <a:ext uri="{FF2B5EF4-FFF2-40B4-BE49-F238E27FC236}">
                <a16:creationId xmlns:a16="http://schemas.microsoft.com/office/drawing/2014/main" id="{550E4836-0D9C-9834-FD26-64EB8C7A566B}"/>
              </a:ext>
            </a:extLst>
          </p:cNvPr>
          <p:cNvSpPr txBox="1"/>
          <p:nvPr/>
        </p:nvSpPr>
        <p:spPr>
          <a:xfrm>
            <a:off x="749808" y="1545336"/>
            <a:ext cx="3785616" cy="369332"/>
          </a:xfrm>
          <a:prstGeom prst="rect">
            <a:avLst/>
          </a:prstGeom>
          <a:noFill/>
        </p:spPr>
        <p:txBody>
          <a:bodyPr wrap="square" rtlCol="0">
            <a:spAutoFit/>
          </a:bodyPr>
          <a:lstStyle/>
          <a:p>
            <a:r>
              <a:rPr lang="en-US"/>
              <a:t>Link to Bill of Materials for testing</a:t>
            </a:r>
          </a:p>
        </p:txBody>
      </p:sp>
      <p:graphicFrame>
        <p:nvGraphicFramePr>
          <p:cNvPr id="11" name="Object 10">
            <a:extLst>
              <a:ext uri="{FF2B5EF4-FFF2-40B4-BE49-F238E27FC236}">
                <a16:creationId xmlns:a16="http://schemas.microsoft.com/office/drawing/2014/main" id="{CEBF49BF-0D44-44CA-200D-F84296709302}"/>
              </a:ext>
            </a:extLst>
          </p:cNvPr>
          <p:cNvGraphicFramePr>
            <a:graphicFrameLocks noChangeAspect="1"/>
          </p:cNvGraphicFramePr>
          <p:nvPr>
            <p:extLst>
              <p:ext uri="{D42A27DB-BD31-4B8C-83A1-F6EECF244321}">
                <p14:modId xmlns:p14="http://schemas.microsoft.com/office/powerpoint/2010/main" val="2814739573"/>
              </p:ext>
            </p:extLst>
          </p:nvPr>
        </p:nvGraphicFramePr>
        <p:xfrm>
          <a:off x="677334" y="2255266"/>
          <a:ext cx="2496500" cy="2106422"/>
        </p:xfrm>
        <a:graphic>
          <a:graphicData uri="http://schemas.openxmlformats.org/presentationml/2006/ole">
            <mc:AlternateContent xmlns:mc="http://schemas.openxmlformats.org/markup-compatibility/2006">
              <mc:Choice xmlns:v="urn:schemas-microsoft-com:vml" Requires="v">
                <p:oleObj name="Worksheet" showAsIcon="1" r:id="rId3" imgW="914400" imgH="771525" progId="Excel.Sheet.12">
                  <p:embed/>
                </p:oleObj>
              </mc:Choice>
              <mc:Fallback>
                <p:oleObj name="Worksheet" showAsIcon="1" r:id="rId3" imgW="914400" imgH="771525" progId="Excel.Sheet.12">
                  <p:embed/>
                  <p:pic>
                    <p:nvPicPr>
                      <p:cNvPr id="0" name=""/>
                      <p:cNvPicPr/>
                      <p:nvPr/>
                    </p:nvPicPr>
                    <p:blipFill>
                      <a:blip r:embed="rId4"/>
                      <a:stretch>
                        <a:fillRect/>
                      </a:stretch>
                    </p:blipFill>
                    <p:spPr>
                      <a:xfrm>
                        <a:off x="677334" y="2255266"/>
                        <a:ext cx="2496500" cy="2106422"/>
                      </a:xfrm>
                      <a:prstGeom prst="rect">
                        <a:avLst/>
                      </a:prstGeom>
                    </p:spPr>
                  </p:pic>
                </p:oleObj>
              </mc:Fallback>
            </mc:AlternateContent>
          </a:graphicData>
        </a:graphic>
      </p:graphicFrame>
    </p:spTree>
    <p:extLst>
      <p:ext uri="{BB962C8B-B14F-4D97-AF65-F5344CB8AC3E}">
        <p14:creationId xmlns:p14="http://schemas.microsoft.com/office/powerpoint/2010/main" val="38578812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a:t>Budget</a:t>
            </a:r>
          </a:p>
        </p:txBody>
      </p:sp>
      <p:graphicFrame>
        <p:nvGraphicFramePr>
          <p:cNvPr id="5" name="Table 4">
            <a:extLst>
              <a:ext uri="{FF2B5EF4-FFF2-40B4-BE49-F238E27FC236}">
                <a16:creationId xmlns:a16="http://schemas.microsoft.com/office/drawing/2014/main" id="{B6190887-C302-AEA5-A5B6-66EEA72B39B4}"/>
              </a:ext>
            </a:extLst>
          </p:cNvPr>
          <p:cNvGraphicFramePr>
            <a:graphicFrameLocks noGrp="1"/>
          </p:cNvGraphicFramePr>
          <p:nvPr>
            <p:extLst>
              <p:ext uri="{D42A27DB-BD31-4B8C-83A1-F6EECF244321}">
                <p14:modId xmlns:p14="http://schemas.microsoft.com/office/powerpoint/2010/main" val="364143432"/>
              </p:ext>
            </p:extLst>
          </p:nvPr>
        </p:nvGraphicFramePr>
        <p:xfrm>
          <a:off x="944880" y="1630681"/>
          <a:ext cx="8869680" cy="3256279"/>
        </p:xfrm>
        <a:graphic>
          <a:graphicData uri="http://schemas.openxmlformats.org/drawingml/2006/table">
            <a:tbl>
              <a:tblPr firstRow="1" bandRow="1">
                <a:tableStyleId>{5C22544A-7EE6-4342-B048-85BDC9FD1C3A}</a:tableStyleId>
              </a:tblPr>
              <a:tblGrid>
                <a:gridCol w="2446791">
                  <a:extLst>
                    <a:ext uri="{9D8B030D-6E8A-4147-A177-3AD203B41FA5}">
                      <a16:colId xmlns:a16="http://schemas.microsoft.com/office/drawing/2014/main" val="4149576998"/>
                    </a:ext>
                  </a:extLst>
                </a:gridCol>
                <a:gridCol w="2140963">
                  <a:extLst>
                    <a:ext uri="{9D8B030D-6E8A-4147-A177-3AD203B41FA5}">
                      <a16:colId xmlns:a16="http://schemas.microsoft.com/office/drawing/2014/main" val="1357034529"/>
                    </a:ext>
                  </a:extLst>
                </a:gridCol>
                <a:gridCol w="2140963">
                  <a:extLst>
                    <a:ext uri="{9D8B030D-6E8A-4147-A177-3AD203B41FA5}">
                      <a16:colId xmlns:a16="http://schemas.microsoft.com/office/drawing/2014/main" val="1639609219"/>
                    </a:ext>
                  </a:extLst>
                </a:gridCol>
                <a:gridCol w="2140963">
                  <a:extLst>
                    <a:ext uri="{9D8B030D-6E8A-4147-A177-3AD203B41FA5}">
                      <a16:colId xmlns:a16="http://schemas.microsoft.com/office/drawing/2014/main" val="470548344"/>
                    </a:ext>
                  </a:extLst>
                </a:gridCol>
              </a:tblGrid>
              <a:tr h="523240">
                <a:tc>
                  <a:txBody>
                    <a:bodyPr/>
                    <a:lstStyle/>
                    <a:p>
                      <a:pPr algn="ctr"/>
                      <a:r>
                        <a:rPr lang="en-US"/>
                        <a:t>Category</a:t>
                      </a:r>
                    </a:p>
                  </a:txBody>
                  <a:tcPr anchor="ctr"/>
                </a:tc>
                <a:tc>
                  <a:txBody>
                    <a:bodyPr/>
                    <a:lstStyle/>
                    <a:p>
                      <a:pPr algn="ctr"/>
                      <a:r>
                        <a:rPr lang="en-US"/>
                        <a:t>PDR Budget</a:t>
                      </a:r>
                    </a:p>
                  </a:txBody>
                  <a:tcPr anchor="ctr"/>
                </a:tc>
                <a:tc>
                  <a:txBody>
                    <a:bodyPr/>
                    <a:lstStyle/>
                    <a:p>
                      <a:pPr algn="ctr"/>
                      <a:r>
                        <a:rPr lang="en-US"/>
                        <a:t>CDR Expenses</a:t>
                      </a:r>
                    </a:p>
                  </a:txBody>
                  <a:tcPr anchor="ctr">
                    <a:solidFill>
                      <a:srgbClr val="BA1C21"/>
                    </a:solidFill>
                  </a:tcPr>
                </a:tc>
                <a:tc>
                  <a:txBody>
                    <a:bodyPr/>
                    <a:lstStyle/>
                    <a:p>
                      <a:pPr algn="ctr"/>
                      <a:r>
                        <a:rPr lang="en-US"/>
                        <a:t>Test Readiness</a:t>
                      </a:r>
                    </a:p>
                    <a:p>
                      <a:pPr algn="ctr"/>
                      <a:r>
                        <a:rPr lang="en-US"/>
                        <a:t>Expenses</a:t>
                      </a:r>
                    </a:p>
                  </a:txBody>
                  <a:tcPr anchor="ctr">
                    <a:solidFill>
                      <a:srgbClr val="BA1C21"/>
                    </a:solidFill>
                  </a:tcPr>
                </a:tc>
                <a:extLst>
                  <a:ext uri="{0D108BD9-81ED-4DB2-BD59-A6C34878D82A}">
                    <a16:rowId xmlns:a16="http://schemas.microsoft.com/office/drawing/2014/main" val="2538191643"/>
                  </a:ext>
                </a:extLst>
              </a:tr>
              <a:tr h="523240">
                <a:tc>
                  <a:txBody>
                    <a:bodyPr/>
                    <a:lstStyle/>
                    <a:p>
                      <a:pPr algn="ctr"/>
                      <a:r>
                        <a:rPr lang="en-US"/>
                        <a:t>Materials &amp; Supplies</a:t>
                      </a:r>
                    </a:p>
                  </a:txBody>
                  <a:tcPr anchor="ctr"/>
                </a:tc>
                <a:tc>
                  <a:txBody>
                    <a:bodyPr/>
                    <a:lstStyle/>
                    <a:p>
                      <a:pPr lvl="0" algn="ctr">
                        <a:buNone/>
                      </a:pPr>
                      <a:r>
                        <a:rPr lang="en-US"/>
                        <a:t>$376.42</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$376.42</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$629.90</a:t>
                      </a:r>
                    </a:p>
                  </a:txBody>
                  <a:tcPr anchor="ctr"/>
                </a:tc>
                <a:extLst>
                  <a:ext uri="{0D108BD9-81ED-4DB2-BD59-A6C34878D82A}">
                    <a16:rowId xmlns:a16="http://schemas.microsoft.com/office/drawing/2014/main" val="2845411025"/>
                  </a:ext>
                </a:extLst>
              </a:tr>
              <a:tr h="523240">
                <a:tc>
                  <a:txBody>
                    <a:bodyPr/>
                    <a:lstStyle/>
                    <a:p>
                      <a:pPr algn="ctr"/>
                      <a:r>
                        <a:rPr lang="en-US"/>
                        <a:t>Tooling &amp; Machining</a:t>
                      </a:r>
                    </a:p>
                  </a:txBody>
                  <a:tcPr anchor="ctr"/>
                </a:tc>
                <a:tc>
                  <a:txBody>
                    <a:bodyPr/>
                    <a:lstStyle/>
                    <a:p>
                      <a:pPr algn="ctr"/>
                      <a:r>
                        <a:rPr lang="en-US"/>
                        <a:t>$150.00</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$150.00</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$150.00</a:t>
                      </a:r>
                    </a:p>
                  </a:txBody>
                  <a:tcPr anchor="ctr"/>
                </a:tc>
                <a:extLst>
                  <a:ext uri="{0D108BD9-81ED-4DB2-BD59-A6C34878D82A}">
                    <a16:rowId xmlns:a16="http://schemas.microsoft.com/office/drawing/2014/main" val="1278932325"/>
                  </a:ext>
                </a:extLst>
              </a:tr>
              <a:tr h="523239">
                <a:tc>
                  <a:txBody>
                    <a:bodyPr/>
                    <a:lstStyle/>
                    <a:p>
                      <a:pPr lvl="0" algn="ctr">
                        <a:buNone/>
                      </a:pPr>
                      <a:r>
                        <a:rPr lang="en-US"/>
                        <a:t>Testing</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$162.00</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$162.00</a:t>
                      </a:r>
                    </a:p>
                  </a:txBody>
                  <a:tcPr anchor="ctr"/>
                </a:tc>
                <a:tc>
                  <a:txBody>
                    <a:bodyPr/>
                    <a:lstStyle/>
                    <a:p>
                      <a:pPr lvl="0" algn="ctr">
                        <a:buNone/>
                      </a:pPr>
                      <a:r>
                        <a:rPr lang="en-US"/>
                        <a:t>$192.35</a:t>
                      </a:r>
                    </a:p>
                  </a:txBody>
                  <a:tcPr anchor="ctr"/>
                </a:tc>
                <a:extLst>
                  <a:ext uri="{0D108BD9-81ED-4DB2-BD59-A6C34878D82A}">
                    <a16:rowId xmlns:a16="http://schemas.microsoft.com/office/drawing/2014/main" val="2793360949"/>
                  </a:ext>
                </a:extLst>
              </a:tr>
              <a:tr h="523240">
                <a:tc>
                  <a:txBody>
                    <a:bodyPr/>
                    <a:lstStyle/>
                    <a:p>
                      <a:pPr algn="ctr"/>
                      <a:r>
                        <a:rPr lang="en-US"/>
                        <a:t>Contingency</a:t>
                      </a:r>
                    </a:p>
                  </a:txBody>
                  <a:tcPr anchor="ctr"/>
                </a:tc>
                <a:tc>
                  <a:txBody>
                    <a:bodyPr/>
                    <a:lstStyle/>
                    <a:p>
                      <a:pPr algn="ctr"/>
                      <a:r>
                        <a:rPr lang="en-US"/>
                        <a:t>$1,013.54</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$1,013.54</a:t>
                      </a:r>
                    </a:p>
                  </a:txBody>
                  <a:tcPr anchor="ctr"/>
                </a:tc>
                <a:tc>
                  <a:txBody>
                    <a:bodyPr/>
                    <a:lstStyle/>
                    <a:p>
                      <a:pPr algn="ctr"/>
                      <a:r>
                        <a:rPr lang="en-US"/>
                        <a:t>$1,166.70</a:t>
                      </a:r>
                    </a:p>
                  </a:txBody>
                  <a:tcPr anchor="ctr"/>
                </a:tc>
                <a:extLst>
                  <a:ext uri="{0D108BD9-81ED-4DB2-BD59-A6C34878D82A}">
                    <a16:rowId xmlns:a16="http://schemas.microsoft.com/office/drawing/2014/main" val="698586594"/>
                  </a:ext>
                </a:extLst>
              </a:tr>
              <a:tr h="523240">
                <a:tc>
                  <a:txBody>
                    <a:bodyPr/>
                    <a:lstStyle/>
                    <a:p>
                      <a:pPr algn="ctr"/>
                      <a:r>
                        <a:rPr lang="en-US"/>
                        <a:t>TOTAL</a:t>
                      </a:r>
                    </a:p>
                  </a:txBody>
                  <a:tcPr anchor="ctr"/>
                </a:tc>
                <a:tc>
                  <a:txBody>
                    <a:bodyPr/>
                    <a:lstStyle/>
                    <a:p>
                      <a:pPr algn="ctr"/>
                      <a:r>
                        <a:rPr lang="en-US"/>
                        <a:t>$844.62</a:t>
                      </a:r>
                    </a:p>
                  </a:txBody>
                  <a:tcPr anchor="ctr"/>
                </a:tc>
                <a:tc>
                  <a:txBody>
                    <a:bodyPr/>
                    <a:lstStyle/>
                    <a:p>
                      <a:pPr lvl="0" algn="ctr">
                        <a:lnSpc>
                          <a:spcPct val="100000"/>
                        </a:lnSpc>
                        <a:spcBef>
                          <a:spcPts val="0"/>
                        </a:spcBef>
                        <a:spcAft>
                          <a:spcPts val="0"/>
                        </a:spcAft>
                        <a:buNone/>
                      </a:pPr>
                      <a:r>
                        <a:rPr lang="en-US" sz="1800" b="0" i="0" u="none" strike="noStrike" noProof="0">
                          <a:latin typeface="Trebuchet MS"/>
                        </a:rPr>
                        <a:t>$844.62</a:t>
                      </a:r>
                    </a:p>
                  </a:txBody>
                  <a:tcPr anchor="ctr"/>
                </a:tc>
                <a:tc>
                  <a:txBody>
                    <a:bodyPr/>
                    <a:lstStyle/>
                    <a:p>
                      <a:pPr lvl="0" algn="ctr">
                        <a:buNone/>
                      </a:pPr>
                      <a:r>
                        <a:rPr lang="en-US"/>
                        <a:t>$972.45</a:t>
                      </a:r>
                    </a:p>
                  </a:txBody>
                  <a:tcPr anchor="ctr"/>
                </a:tc>
                <a:extLst>
                  <a:ext uri="{0D108BD9-81ED-4DB2-BD59-A6C34878D82A}">
                    <a16:rowId xmlns:a16="http://schemas.microsoft.com/office/drawing/2014/main" val="2475339301"/>
                  </a:ext>
                </a:extLst>
              </a:tr>
            </a:tbl>
          </a:graphicData>
        </a:graphic>
      </p:graphicFrame>
    </p:spTree>
    <p:extLst>
      <p:ext uri="{BB962C8B-B14F-4D97-AF65-F5344CB8AC3E}">
        <p14:creationId xmlns:p14="http://schemas.microsoft.com/office/powerpoint/2010/main" val="22053597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5251F-E733-486C-9AD2-C5E97AED5DF2}"/>
              </a:ext>
            </a:extLst>
          </p:cNvPr>
          <p:cNvSpPr>
            <a:spLocks noGrp="1"/>
          </p:cNvSpPr>
          <p:nvPr>
            <p:ph type="title"/>
          </p:nvPr>
        </p:nvSpPr>
        <p:spPr/>
        <p:txBody>
          <a:bodyPr/>
          <a:lstStyle/>
          <a:p>
            <a:r>
              <a:rPr lang="en-US"/>
              <a:t>Schedule</a:t>
            </a:r>
          </a:p>
        </p:txBody>
      </p:sp>
      <p:sp>
        <p:nvSpPr>
          <p:cNvPr id="3" name="Content Placeholder 2">
            <a:extLst>
              <a:ext uri="{FF2B5EF4-FFF2-40B4-BE49-F238E27FC236}">
                <a16:creationId xmlns:a16="http://schemas.microsoft.com/office/drawing/2014/main" id="{43D7B0FB-2CF6-4AE0-8331-AED94AC4DC3A}"/>
              </a:ext>
            </a:extLst>
          </p:cNvPr>
          <p:cNvSpPr>
            <a:spLocks noGrp="1"/>
          </p:cNvSpPr>
          <p:nvPr>
            <p:ph idx="1"/>
          </p:nvPr>
        </p:nvSpPr>
        <p:spPr>
          <a:xfrm>
            <a:off x="677334" y="1638300"/>
            <a:ext cx="8596668" cy="4940299"/>
          </a:xfrm>
        </p:spPr>
        <p:txBody>
          <a:bodyPr vert="horz" lIns="91440" tIns="45720" rIns="91440" bIns="45720" rtlCol="0" anchor="t">
            <a:normAutofit/>
          </a:bodyPr>
          <a:lstStyle/>
          <a:p>
            <a:pPr marL="0" indent="0">
              <a:buNone/>
            </a:pPr>
            <a:r>
              <a:rPr lang="en-US"/>
              <a:t>Schedule via Gantt Chart: </a:t>
            </a:r>
            <a:endParaRPr lang="en-US" sz="1800"/>
          </a:p>
          <a:p>
            <a:pPr lvl="1"/>
            <a:r>
              <a:rPr lang="en-US"/>
              <a:t>Milestones</a:t>
            </a:r>
          </a:p>
          <a:p>
            <a:pPr lvl="2"/>
            <a:r>
              <a:rPr lang="en-US" sz="1600"/>
              <a:t>Test Results Review</a:t>
            </a:r>
          </a:p>
          <a:p>
            <a:pPr lvl="2"/>
            <a:r>
              <a:rPr lang="en-US" sz="1600"/>
              <a:t>Improvement Review</a:t>
            </a:r>
          </a:p>
          <a:p>
            <a:pPr lvl="2"/>
            <a:r>
              <a:rPr lang="en-US" sz="1600"/>
              <a:t>Final Review</a:t>
            </a:r>
          </a:p>
          <a:p>
            <a:pPr lvl="2"/>
            <a:r>
              <a:rPr lang="en-US" sz="1600"/>
              <a:t>Exhibition (Design Day)</a:t>
            </a:r>
          </a:p>
          <a:p>
            <a:pPr lvl="2"/>
            <a:r>
              <a:rPr lang="en-US" sz="1600"/>
              <a:t>Delta CDR</a:t>
            </a:r>
            <a:endParaRPr lang="en-US" sz="1800"/>
          </a:p>
          <a:p>
            <a:pPr marL="0" indent="0">
              <a:buNone/>
            </a:pPr>
            <a:endParaRPr lang="en-US" sz="1800"/>
          </a:p>
        </p:txBody>
      </p:sp>
      <p:graphicFrame>
        <p:nvGraphicFramePr>
          <p:cNvPr id="5" name="Object 4">
            <a:extLst>
              <a:ext uri="{FF2B5EF4-FFF2-40B4-BE49-F238E27FC236}">
                <a16:creationId xmlns:a16="http://schemas.microsoft.com/office/drawing/2014/main" id="{CD6D231F-2AFD-73EB-D823-733F4292AECD}"/>
              </a:ext>
            </a:extLst>
          </p:cNvPr>
          <p:cNvGraphicFramePr>
            <a:graphicFrameLocks noChangeAspect="1"/>
          </p:cNvGraphicFramePr>
          <p:nvPr>
            <p:extLst>
              <p:ext uri="{D42A27DB-BD31-4B8C-83A1-F6EECF244321}">
                <p14:modId xmlns:p14="http://schemas.microsoft.com/office/powerpoint/2010/main" val="894719326"/>
              </p:ext>
            </p:extLst>
          </p:nvPr>
        </p:nvGraphicFramePr>
        <p:xfrm>
          <a:off x="5638800" y="3041650"/>
          <a:ext cx="2366452" cy="1996694"/>
        </p:xfrm>
        <a:graphic>
          <a:graphicData uri="http://schemas.openxmlformats.org/presentationml/2006/ole">
            <mc:AlternateContent xmlns:mc="http://schemas.openxmlformats.org/markup-compatibility/2006">
              <mc:Choice xmlns:v="urn:schemas-microsoft-com:vml" Requires="v">
                <p:oleObj name="Worksheet" showAsIcon="1" r:id="rId3" imgW="914400" imgH="771525" progId="Excel.Sheet.12">
                  <p:embed/>
                </p:oleObj>
              </mc:Choice>
              <mc:Fallback>
                <p:oleObj name="Worksheet" showAsIcon="1" r:id="rId3" imgW="914400" imgH="771525" progId="Excel.Sheet.12">
                  <p:embed/>
                  <p:pic>
                    <p:nvPicPr>
                      <p:cNvPr id="0" name=""/>
                      <p:cNvPicPr/>
                      <p:nvPr/>
                    </p:nvPicPr>
                    <p:blipFill>
                      <a:blip r:embed="rId4"/>
                      <a:stretch>
                        <a:fillRect/>
                      </a:stretch>
                    </p:blipFill>
                    <p:spPr>
                      <a:xfrm>
                        <a:off x="5638800" y="3041650"/>
                        <a:ext cx="2366452" cy="1996694"/>
                      </a:xfrm>
                      <a:prstGeom prst="rect">
                        <a:avLst/>
                      </a:prstGeom>
                    </p:spPr>
                  </p:pic>
                </p:oleObj>
              </mc:Fallback>
            </mc:AlternateContent>
          </a:graphicData>
        </a:graphic>
      </p:graphicFrame>
    </p:spTree>
    <p:extLst>
      <p:ext uri="{BB962C8B-B14F-4D97-AF65-F5344CB8AC3E}">
        <p14:creationId xmlns:p14="http://schemas.microsoft.com/office/powerpoint/2010/main" val="1556631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54E9B295-1B6F-425D-B212-4C66CE0DA113}"/>
              </a:ext>
            </a:extLst>
          </p:cNvPr>
          <p:cNvSpPr>
            <a:spLocks noGrp="1"/>
          </p:cNvSpPr>
          <p:nvPr>
            <p:ph type="title"/>
          </p:nvPr>
        </p:nvSpPr>
        <p:spPr>
          <a:xfrm>
            <a:off x="1066800" y="2664504"/>
            <a:ext cx="10058400" cy="1371600"/>
          </a:xfrm>
        </p:spPr>
        <p:txBody>
          <a:bodyPr>
            <a:normAutofit/>
          </a:bodyPr>
          <a:lstStyle/>
          <a:p>
            <a:pPr algn="ctr"/>
            <a:r>
              <a:rPr lang="en-US" sz="6600"/>
              <a:t>Questions</a:t>
            </a:r>
          </a:p>
        </p:txBody>
      </p:sp>
    </p:spTree>
    <p:extLst>
      <p:ext uri="{BB962C8B-B14F-4D97-AF65-F5344CB8AC3E}">
        <p14:creationId xmlns:p14="http://schemas.microsoft.com/office/powerpoint/2010/main" val="2253452733"/>
      </p:ext>
    </p:extLst>
  </p:cSld>
  <p:clrMapOvr>
    <a:masterClrMapping/>
  </p:clrMapOvr>
</p:sld>
</file>

<file path=ppt/theme/theme1.xml><?xml version="1.0" encoding="utf-8"?>
<a:theme xmlns:a="http://schemas.openxmlformats.org/drawingml/2006/main" name="Facet">
  <a:themeElements>
    <a:clrScheme name="UtahTech">
      <a:dk1>
        <a:sysClr val="windowText" lastClr="000000"/>
      </a:dk1>
      <a:lt1>
        <a:sysClr val="window" lastClr="FFFFFF"/>
      </a:lt1>
      <a:dk2>
        <a:srgbClr val="BA1C21"/>
      </a:dk2>
      <a:lt2>
        <a:srgbClr val="EBEBEB"/>
      </a:lt2>
      <a:accent1>
        <a:srgbClr val="003058"/>
      </a:accent1>
      <a:accent2>
        <a:srgbClr val="BA1C21"/>
      </a:accent2>
      <a:accent3>
        <a:srgbClr val="BA1C21"/>
      </a:accent3>
      <a:accent4>
        <a:srgbClr val="BA1C21"/>
      </a:accent4>
      <a:accent5>
        <a:srgbClr val="BA1C21"/>
      </a:accent5>
      <a:accent6>
        <a:srgbClr val="BA1C21"/>
      </a:accent6>
      <a:hlink>
        <a:srgbClr val="BA1C21"/>
      </a:hlink>
      <a:folHlink>
        <a:srgbClr val="BA1C2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15247A15C38DE40A573999B6070A975" ma:contentTypeVersion="11" ma:contentTypeDescription="Create a new document." ma:contentTypeScope="" ma:versionID="afb66a0050ffe63c0caaf523038e8bbd">
  <xsd:schema xmlns:xsd="http://www.w3.org/2001/XMLSchema" xmlns:xs="http://www.w3.org/2001/XMLSchema" xmlns:p="http://schemas.microsoft.com/office/2006/metadata/properties" xmlns:ns2="a5dae947-98e5-495e-bab1-cc2a6059ad3b" xmlns:ns3="101382ff-e895-4226-9b8b-208a50023ada" targetNamespace="http://schemas.microsoft.com/office/2006/metadata/properties" ma:root="true" ma:fieldsID="34e31e9107cc25fa3e8a352dd8873f5d" ns2:_="" ns3:_="">
    <xsd:import namespace="a5dae947-98e5-495e-bab1-cc2a6059ad3b"/>
    <xsd:import namespace="101382ff-e895-4226-9b8b-208a50023ada"/>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5dae947-98e5-495e-bab1-cc2a6059ad3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lcf76f155ced4ddcb4097134ff3c332f" ma:index="16" nillable="true" ma:taxonomy="true" ma:internalName="lcf76f155ced4ddcb4097134ff3c332f" ma:taxonomyFieldName="MediaServiceImageTags" ma:displayName="Image Tags" ma:readOnly="false" ma:fieldId="{5cf76f15-5ced-4ddc-b409-7134ff3c332f}" ma:taxonomyMulti="true" ma:sspId="6dcab841-b377-4e82-87b7-c4480f266366"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101382ff-e895-4226-9b8b-208a50023ada" elementFormDefault="qualified">
    <xsd:import namespace="http://schemas.microsoft.com/office/2006/documentManagement/types"/>
    <xsd:import namespace="http://schemas.microsoft.com/office/infopath/2007/PartnerControls"/>
    <xsd:element name="TaxCatchAll" ma:index="17" nillable="true" ma:displayName="Taxonomy Catch All Column" ma:hidden="true" ma:list="{bcad34b7-b5d1-438c-95c5-dcc7e7eb8d6f}" ma:internalName="TaxCatchAll" ma:showField="CatchAllData" ma:web="101382ff-e895-4226-9b8b-208a50023ad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101382ff-e895-4226-9b8b-208a50023ada" xsi:nil="true"/>
    <lcf76f155ced4ddcb4097134ff3c332f xmlns="a5dae947-98e5-495e-bab1-cc2a6059ad3b">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3D0CEE3F-7BB5-4E42-94B6-E938E0F5B5B0}"/>
</file>

<file path=customXml/itemProps2.xml><?xml version="1.0" encoding="utf-8"?>
<ds:datastoreItem xmlns:ds="http://schemas.openxmlformats.org/officeDocument/2006/customXml" ds:itemID="{686B1AA2-BC78-45B3-805A-A70E2277D77E}">
  <ds:schemaRefs>
    <ds:schemaRef ds:uri="http://schemas.microsoft.com/sharepoint/v3/contenttype/forms"/>
  </ds:schemaRefs>
</ds:datastoreItem>
</file>

<file path=customXml/itemProps3.xml><?xml version="1.0" encoding="utf-8"?>
<ds:datastoreItem xmlns:ds="http://schemas.openxmlformats.org/officeDocument/2006/customXml" ds:itemID="{62A9F3B3-60A6-4664-A1BF-7F34141BDC87}">
  <ds:schemaRefs>
    <ds:schemaRef ds:uri="0f8de707-1dbb-4092-ba38-d30ed97f1124"/>
    <ds:schemaRef ds:uri="9794a001-1d29-4107-b2cf-0763ac5084c9"/>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emplate>Facet</Template>
  <TotalTime>0</TotalTime>
  <Words>3616</Words>
  <Application>Microsoft Office PowerPoint</Application>
  <PresentationFormat>Widescreen</PresentationFormat>
  <Paragraphs>844</Paragraphs>
  <Slides>25</Slides>
  <Notes>22</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2</vt:i4>
      </vt:variant>
      <vt:variant>
        <vt:lpstr>Slide Titles</vt:lpstr>
      </vt:variant>
      <vt:variant>
        <vt:i4>25</vt:i4>
      </vt:variant>
    </vt:vector>
  </HeadingPairs>
  <TitlesOfParts>
    <vt:vector size="36" baseType="lpstr">
      <vt:lpstr>Altivo Regular</vt:lpstr>
      <vt:lpstr>Aptos</vt:lpstr>
      <vt:lpstr>Arial</vt:lpstr>
      <vt:lpstr>Bison Bold</vt:lpstr>
      <vt:lpstr>Trailblazers Font B Width 300</vt:lpstr>
      <vt:lpstr>Trebuchet MS</vt:lpstr>
      <vt:lpstr>Wingdings</vt:lpstr>
      <vt:lpstr>Wingdings 3</vt:lpstr>
      <vt:lpstr>Facet</vt:lpstr>
      <vt:lpstr>Worksheet</vt:lpstr>
      <vt:lpstr>Microsoft Excel Worksheet</vt:lpstr>
      <vt:lpstr>PowerPoint Presentation</vt:lpstr>
      <vt:lpstr>Overview</vt:lpstr>
      <vt:lpstr>Design Statement</vt:lpstr>
      <vt:lpstr>Metrics Tests</vt:lpstr>
      <vt:lpstr>Metrics Tests</vt:lpstr>
      <vt:lpstr>Prototype Completion Check *pictures will include reaction wheel setup and mounted to a 3U prototype</vt:lpstr>
      <vt:lpstr>Jigs &amp; Fixtures – Spherical air bearing</vt:lpstr>
      <vt:lpstr>Detailed Test Plan #1</vt:lpstr>
      <vt:lpstr>Detailed Test Plan #2 </vt:lpstr>
      <vt:lpstr>Detailed Test Plan #3 </vt:lpstr>
      <vt:lpstr>Detailed Test Plan #4 </vt:lpstr>
      <vt:lpstr>Detailed Test Plan #5 </vt:lpstr>
      <vt:lpstr>Detailed Test Plan #6 </vt:lpstr>
      <vt:lpstr>Detailed Test Plan #7</vt:lpstr>
      <vt:lpstr>Detailed Test Plan #8 </vt:lpstr>
      <vt:lpstr>Detailed Test Plan #9</vt:lpstr>
      <vt:lpstr>Detailed Test Plan #10</vt:lpstr>
      <vt:lpstr>Detailed Test Plan #11</vt:lpstr>
      <vt:lpstr>Detailed Test Plan #12</vt:lpstr>
      <vt:lpstr>Calibration</vt:lpstr>
      <vt:lpstr>Fabrication Plan</vt:lpstr>
      <vt:lpstr>Bill of Materials</vt:lpstr>
      <vt:lpstr>Budget</vt:lpstr>
      <vt:lpstr>Schedule</vt:lpstr>
      <vt:lpstr>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4</cp:revision>
  <dcterms:created xsi:type="dcterms:W3CDTF">2021-10-05T18:11:42Z</dcterms:created>
  <dcterms:modified xsi:type="dcterms:W3CDTF">2025-02-28T23:04:53Z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0x010100215247A15C38DE40A573999B6070A975</vt:lpwstr>
  </property>
</Properties>
</file>